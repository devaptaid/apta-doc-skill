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14999"/>
              </a:lnSpc>
            </a:pPr>
            <a:r>
              <a:rPr lang="en-US" sz="1800" b="0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Design reference: html-apta/example.html supplied by the user. All metrics, project plans, statuses, and client scenarios in this deck are illustrative.</a:t>
            </a:r>
            <a:endParaRPr lang="en-US" sz="180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14999"/>
              </a:lnSpc>
            </a:pPr>
            <a:r>
              <a:rPr lang="en-US" sz="1800" b="0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Synthetic metrics for layout demonstration only. These are not Aptaworks client results or performance guarantees.</a:t>
            </a:r>
            <a:endParaRPr lang="en-US" sz="180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14999"/>
              </a:lnSpc>
            </a:pPr>
            <a:r>
              <a:rPr lang="en-US" sz="1800" b="0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Illustrative timeline; no actual delivery commitment is implied.</a:t>
            </a:r>
            <a:endParaRPr lang="en-US" sz="1800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14999"/>
              </a:lnSpc>
            </a:pPr>
            <a:r>
              <a:rPr lang="en-US" sz="1800" b="0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Official Aptaworks wordmark supplied with the skill. The visual remains an image; surrounding text and framing remain editable.</a:t>
            </a:r>
            <a:endParaRPr lang="en-US" sz="1800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14999"/>
              </a:lnSpc>
            </a:pPr>
            <a:r>
              <a:rPr lang="en-US" sz="1800" b="0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Closing copy, QR, and contact artwork follow the user-supplied html-apta/example.html. Contact row: (+62) 811 862 2782; Instagram aptaworks; LinkedIn aptaworks; www.apta.id; info@apta.id.</a:t>
            </a:r>
            <a:endParaRPr lang="en-US" sz="18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1" Type="http://schemas.openxmlformats.org/officeDocument/2006/relationships/image" Target="../media/image1_1.png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1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1" Type="http://schemas.openxmlformats.org/officeDocument/2006/relationships/image" Target="../media/image11_1.png"/><Relationship Id="rIdNotes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1" Type="http://schemas.openxmlformats.org/officeDocument/2006/relationships/image" Target="../media/image13_1.png"/><Relationship Id="rIdImage2" Type="http://schemas.openxmlformats.org/officeDocument/2006/relationships/image" Target="../media/image13_2.png"/><Relationship Id="rIdNotes" Type="http://schemas.openxmlformats.org/officeDocument/2006/relationships/notesSlide" Target="../notesSlides/notesSlide1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over">
    <p:bg>
      <p:bgPr>
        <a:gradFill rotWithShape="1">
          <a:gsLst>
            <a:gs pos="0">
              <a:srgbClr val="124C6E"/>
            </a:gs>
            <a:gs pos="46000">
              <a:srgbClr val="17234E"/>
            </a:gs>
            <a:gs pos="100000">
              <a:srgbClr val="0B153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01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FFFFFF">
                    <a:alpha val="100000"/>
                  </a:srgbClr>
                </a:solidFill>
                <a:latin typeface="Consolas"/>
              </a:rPr>
              <a:t xml:space="preserve">01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FFFFFF">
              <a:alpha val="46000"/>
            </a:srgbClr>
          </a:solidFill>
          <a:ln>
            <a:noFill/>
          </a:ln>
        </p:spPr>
      </p:sp>
      <p:pic>
        <p:nvPicPr>
          <p:cNvPr id="4" name="logo_aptaworks_wide_white.png" descr="Aptaworks brand asset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800100" y="518657"/>
            <a:ext cx="1428748" cy="286659"/>
          </a:xfrm>
          <a:prstGeom prst="rect">
            <a:avLst/>
          </a:prstGeom>
        </p:spPr>
      </p:pic>
      <p:sp>
        <p:nvSpPr>
          <p:cNvPr id="5" name="Rule" descr=""/>
          <p:cNvSpPr/>
          <p:nvPr/>
        </p:nvSpPr>
        <p:spPr>
          <a:xfrm>
            <a:off x="800100" y="140017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6" name="Text: APTAWORKS PRESENTATION LIBRARY" descr=""/>
          <p:cNvSpPr txBox="1"/>
          <p:nvPr/>
        </p:nvSpPr>
        <p:spPr>
          <a:xfrm>
            <a:off x="1295400" y="133350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APTAWORKS PRESENTATION LIBRARY</a:t>
            </a:r>
            <a:endParaRPr lang="en-US" sz="825"/>
          </a:p>
        </p:txBody>
      </p:sp>
      <p:sp>
        <p:nvSpPr>
          <p:cNvPr id="7" name="Text: Practical decks for clear decisions" descr=""/>
          <p:cNvSpPr txBox="1"/>
          <p:nvPr/>
        </p:nvSpPr>
        <p:spPr>
          <a:xfrm>
            <a:off x="800100" y="1809750"/>
            <a:ext cx="85725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4800" b="0" i="0">
                <a:solidFill>
                  <a:srgbClr val="FFFFFF">
                    <a:alpha val="100000"/>
                  </a:srgbClr>
                </a:solidFill>
                <a:latin typeface="Lato Black"/>
              </a:rPr>
              <a:t xml:space="preserve">Practical decks for clear decisions</a:t>
            </a:r>
            <a:endParaRPr lang="en-US" sz="4800"/>
          </a:p>
        </p:txBody>
      </p:sp>
      <p:sp>
        <p:nvSpPr>
          <p:cNvPr id="8" name="Text: A library of editable layouts for proposals, train" descr=""/>
          <p:cNvSpPr txBox="1"/>
          <p:nvPr/>
        </p:nvSpPr>
        <p:spPr>
          <a:xfrm>
            <a:off x="800100" y="4095750"/>
            <a:ext cx="75247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lang="en-US" sz="1650" b="0" i="0">
                <a:solidFill>
                  <a:srgbClr val="FFFFFF">
                    <a:alpha val="78000"/>
                  </a:srgbClr>
                </a:solidFill>
                <a:latin typeface="Lato"/>
              </a:rPr>
              <a:t xml:space="preserve">A library of editable layouts for proposals, training, and client presentations.</a:t>
            </a:r>
            <a:endParaRPr lang="en-US" sz="1650"/>
          </a:p>
        </p:txBody>
      </p:sp>
      <p:sp>
        <p:nvSpPr>
          <p:cNvPr id="9" name="Text: A" descr=""/>
          <p:cNvSpPr txBox="1"/>
          <p:nvPr/>
        </p:nvSpPr>
        <p:spPr>
          <a:xfrm>
            <a:off x="9525000" y="3657600"/>
            <a:ext cx="1905000" cy="2524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20250" b="0" i="1">
                <a:solidFill>
                  <a:srgbClr val="FFFFFF">
                    <a:alpha val="14000"/>
                  </a:srgbClr>
                </a:solidFill>
                <a:latin typeface="Georgia"/>
              </a:rPr>
              <a:t xml:space="preserve">A</a:t>
            </a:r>
            <a:endParaRPr lang="en-US" sz="2025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ledger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02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17234E">
                    <a:alpha val="100000"/>
                  </a:srgbClr>
                </a:solidFill>
                <a:latin typeface="Consolas"/>
              </a:rPr>
              <a:t xml:space="preserve">02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17234E">
              <a:alpha val="55000"/>
            </a:srgbClr>
          </a:solidFill>
          <a:ln>
            <a:noFill/>
          </a:ln>
        </p:spPr>
      </p:sp>
      <p:sp>
        <p:nvSpPr>
          <p:cNvPr id="4" name="Rule" descr=""/>
          <p:cNvSpPr/>
          <p:nvPr/>
        </p:nvSpPr>
        <p:spPr>
          <a:xfrm>
            <a:off x="800100" y="276225"/>
            <a:ext cx="32385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5" name="Text: LEDGER / COMPONENT LIBRARY" descr=""/>
          <p:cNvSpPr txBox="1"/>
          <p:nvPr/>
        </p:nvSpPr>
        <p:spPr>
          <a:xfrm>
            <a:off x="1219200" y="209550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LEDGER / COMPONENT LIBRARY</a:t>
            </a:r>
            <a:endParaRPr lang="en-US" sz="825"/>
          </a:p>
        </p:txBody>
      </p:sp>
      <p:sp>
        <p:nvSpPr>
          <p:cNvPr id="6" name="Text: Aptaworks" descr=""/>
          <p:cNvSpPr txBox="1"/>
          <p:nvPr/>
        </p:nvSpPr>
        <p:spPr>
          <a:xfrm>
            <a:off x="8143875" y="209550"/>
            <a:ext cx="32480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Aptaworks</a:t>
            </a:r>
            <a:endParaRPr lang="en-US" sz="900"/>
          </a:p>
        </p:txBody>
      </p:sp>
      <p:sp>
        <p:nvSpPr>
          <p:cNvPr id="7" name="Rule" descr=""/>
          <p:cNvSpPr/>
          <p:nvPr/>
        </p:nvSpPr>
        <p:spPr>
          <a:xfrm>
            <a:off x="800100" y="58102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8" name="Text: OPTION SETS / LEDGER" descr=""/>
          <p:cNvSpPr txBox="1"/>
          <p:nvPr/>
        </p:nvSpPr>
        <p:spPr>
          <a:xfrm>
            <a:off x="1295400" y="5143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OPTION SETS / LEDGER</a:t>
            </a:r>
            <a:endParaRPr lang="en-US" sz="825"/>
          </a:p>
        </p:txBody>
      </p:sp>
      <p:sp>
        <p:nvSpPr>
          <p:cNvPr id="9" name="Text: Choose the right component" descr=""/>
          <p:cNvSpPr txBox="1"/>
          <p:nvPr/>
        </p:nvSpPr>
        <p:spPr>
          <a:xfrm>
            <a:off x="800100" y="781050"/>
            <a:ext cx="1059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36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Choose the right component</a:t>
            </a:r>
            <a:endParaRPr lang="en-US" sz="3600"/>
          </a:p>
        </p:txBody>
      </p:sp>
      <p:sp>
        <p:nvSpPr>
          <p:cNvPr id="10" name="Rule" descr=""/>
          <p:cNvSpPr/>
          <p:nvPr/>
        </p:nvSpPr>
        <p:spPr>
          <a:xfrm>
            <a:off x="800100" y="1752600"/>
            <a:ext cx="10591800" cy="14287"/>
          </a:xfrm>
          <a:prstGeom prst="rect">
            <a:avLst/>
          </a:prstGeom>
          <a:solidFill>
            <a:srgbClr val="17234E">
              <a:alpha val="100000"/>
            </a:srgbClr>
          </a:solidFill>
          <a:ln>
            <a:noFill/>
          </a:ln>
        </p:spPr>
      </p:sp>
      <p:sp>
        <p:nvSpPr>
          <p:cNvPr id="11" name="Text: 01" descr=""/>
          <p:cNvSpPr txBox="1"/>
          <p:nvPr/>
        </p:nvSpPr>
        <p:spPr>
          <a:xfrm>
            <a:off x="800100" y="1924050"/>
            <a:ext cx="733425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50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01</a:t>
            </a:r>
            <a:endParaRPr lang="en-US" sz="4050"/>
          </a:p>
        </p:txBody>
      </p:sp>
      <p:sp>
        <p:nvSpPr>
          <p:cNvPr id="12" name="Text: Compare options" descr=""/>
          <p:cNvSpPr txBox="1"/>
          <p:nvPr/>
        </p:nvSpPr>
        <p:spPr>
          <a:xfrm>
            <a:off x="1771650" y="19431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2025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Compare options</a:t>
            </a:r>
            <a:endParaRPr lang="en-US" sz="2025"/>
          </a:p>
        </p:txBody>
      </p:sp>
      <p:sp>
        <p:nvSpPr>
          <p:cNvPr id="13" name="Text: Use indexed rows to make differences easy to scan." descr=""/>
          <p:cNvSpPr txBox="1"/>
          <p:nvPr/>
        </p:nvSpPr>
        <p:spPr>
          <a:xfrm>
            <a:off x="1771650" y="2343150"/>
            <a:ext cx="7620000" cy="466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Use indexed rows to make differences easy to scan.</a:t>
            </a:r>
            <a:endParaRPr lang="en-US" sz="1350"/>
          </a:p>
        </p:txBody>
      </p:sp>
      <p:sp>
        <p:nvSpPr>
          <p:cNvPr id="14" name="Ledger state" descr=""/>
          <p:cNvSpPr/>
          <p:nvPr/>
        </p:nvSpPr>
        <p:spPr>
          <a:xfrm>
            <a:off x="9886950" y="1981200"/>
            <a:ext cx="1504950" cy="323850"/>
          </a:xfrm>
          <a:prstGeom prst="rect">
            <a:avLst/>
          </a:prstGeom>
          <a:noFill/>
          <a:ln w="9525">
            <a:solidFill>
              <a:srgbClr val="2C8D63"/>
            </a:solidFill>
            <a:prstDash val="solid"/>
          </a:ln>
        </p:spPr>
      </p:sp>
      <p:sp>
        <p:nvSpPr>
          <p:cNvPr id="15" name="Text: READY" descr=""/>
          <p:cNvSpPr txBox="1"/>
          <p:nvPr/>
        </p:nvSpPr>
        <p:spPr>
          <a:xfrm>
            <a:off x="9963150" y="2038350"/>
            <a:ext cx="13525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900" b="0" i="0">
                <a:solidFill>
                  <a:srgbClr val="2C8D63">
                    <a:alpha val="100000"/>
                  </a:srgbClr>
                </a:solidFill>
                <a:latin typeface="Consolas"/>
              </a:rPr>
              <a:t xml:space="preserve">READY</a:t>
            </a:r>
            <a:endParaRPr lang="en-US" sz="900"/>
          </a:p>
        </p:txBody>
      </p:sp>
      <p:sp>
        <p:nvSpPr>
          <p:cNvPr id="16" name="Rule" descr=""/>
          <p:cNvSpPr/>
          <p:nvPr/>
        </p:nvSpPr>
        <p:spPr>
          <a:xfrm>
            <a:off x="800100" y="3009900"/>
            <a:ext cx="10591800" cy="9525"/>
          </a:xfrm>
          <a:prstGeom prst="rect">
            <a:avLst/>
          </a:prstGeom>
          <a:solidFill>
            <a:srgbClr val="17234E">
              <a:alpha val="42000"/>
            </a:srgbClr>
          </a:solidFill>
          <a:ln>
            <a:noFill/>
          </a:ln>
        </p:spPr>
      </p:sp>
      <p:sp>
        <p:nvSpPr>
          <p:cNvPr id="17" name="Text: 02" descr=""/>
          <p:cNvSpPr txBox="1"/>
          <p:nvPr/>
        </p:nvSpPr>
        <p:spPr>
          <a:xfrm>
            <a:off x="800100" y="3181350"/>
            <a:ext cx="733425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50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02</a:t>
            </a:r>
            <a:endParaRPr lang="en-US" sz="4050"/>
          </a:p>
        </p:txBody>
      </p:sp>
      <p:sp>
        <p:nvSpPr>
          <p:cNvPr id="18" name="Text: Explain a sequence" descr=""/>
          <p:cNvSpPr txBox="1"/>
          <p:nvPr/>
        </p:nvSpPr>
        <p:spPr>
          <a:xfrm>
            <a:off x="1771650" y="3200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2025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Explain a sequence</a:t>
            </a:r>
            <a:endParaRPr lang="en-US" sz="2025"/>
          </a:p>
        </p:txBody>
      </p:sp>
      <p:sp>
        <p:nvSpPr>
          <p:cNvPr id="19" name="Text: Connect the steps and show the handoffs." descr=""/>
          <p:cNvSpPr txBox="1"/>
          <p:nvPr/>
        </p:nvSpPr>
        <p:spPr>
          <a:xfrm>
            <a:off x="1771650" y="3600450"/>
            <a:ext cx="7620000" cy="466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Connect the steps and show the handoffs.</a:t>
            </a:r>
            <a:endParaRPr lang="en-US" sz="1350"/>
          </a:p>
        </p:txBody>
      </p:sp>
      <p:sp>
        <p:nvSpPr>
          <p:cNvPr id="20" name="Ledger state" descr=""/>
          <p:cNvSpPr/>
          <p:nvPr/>
        </p:nvSpPr>
        <p:spPr>
          <a:xfrm>
            <a:off x="9886950" y="3238500"/>
            <a:ext cx="1504950" cy="323850"/>
          </a:xfrm>
          <a:prstGeom prst="rect">
            <a:avLst/>
          </a:prstGeom>
          <a:noFill/>
          <a:ln w="9525">
            <a:solidFill>
              <a:srgbClr val="EF7636"/>
            </a:solidFill>
            <a:prstDash val="solid"/>
          </a:ln>
        </p:spPr>
      </p:sp>
      <p:sp>
        <p:nvSpPr>
          <p:cNvPr id="21" name="Text: PILOT" descr=""/>
          <p:cNvSpPr txBox="1"/>
          <p:nvPr/>
        </p:nvSpPr>
        <p:spPr>
          <a:xfrm>
            <a:off x="9963150" y="3295650"/>
            <a:ext cx="13525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900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PILOT</a:t>
            </a:r>
            <a:endParaRPr lang="en-US" sz="900"/>
          </a:p>
        </p:txBody>
      </p:sp>
      <p:sp>
        <p:nvSpPr>
          <p:cNvPr id="22" name="Rule" descr=""/>
          <p:cNvSpPr/>
          <p:nvPr/>
        </p:nvSpPr>
        <p:spPr>
          <a:xfrm>
            <a:off x="800100" y="4267200"/>
            <a:ext cx="10591800" cy="9525"/>
          </a:xfrm>
          <a:prstGeom prst="rect">
            <a:avLst/>
          </a:prstGeom>
          <a:solidFill>
            <a:srgbClr val="17234E">
              <a:alpha val="42000"/>
            </a:srgbClr>
          </a:solidFill>
          <a:ln>
            <a:noFill/>
          </a:ln>
        </p:spPr>
      </p:sp>
      <p:sp>
        <p:nvSpPr>
          <p:cNvPr id="23" name="Text: 03" descr=""/>
          <p:cNvSpPr txBox="1"/>
          <p:nvPr/>
        </p:nvSpPr>
        <p:spPr>
          <a:xfrm>
            <a:off x="800100" y="4438650"/>
            <a:ext cx="733425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50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03</a:t>
            </a:r>
            <a:endParaRPr lang="en-US" sz="4050"/>
          </a:p>
        </p:txBody>
      </p:sp>
      <p:sp>
        <p:nvSpPr>
          <p:cNvPr id="24" name="Text: Present evidence" descr=""/>
          <p:cNvSpPr txBox="1"/>
          <p:nvPr/>
        </p:nvSpPr>
        <p:spPr>
          <a:xfrm>
            <a:off x="1771650" y="44577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2025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Present evidence</a:t>
            </a:r>
            <a:endParaRPr lang="en-US" sz="2025"/>
          </a:p>
        </p:txBody>
      </p:sp>
      <p:sp>
        <p:nvSpPr>
          <p:cNvPr id="25" name="Text: Pair a clear metric with its scope and context." descr=""/>
          <p:cNvSpPr txBox="1"/>
          <p:nvPr/>
        </p:nvSpPr>
        <p:spPr>
          <a:xfrm>
            <a:off x="1771650" y="4857750"/>
            <a:ext cx="7620000" cy="466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Pair a clear metric with its scope and context.</a:t>
            </a:r>
            <a:endParaRPr lang="en-US" sz="1350"/>
          </a:p>
        </p:txBody>
      </p:sp>
      <p:sp>
        <p:nvSpPr>
          <p:cNvPr id="26" name="Ledger state" descr=""/>
          <p:cNvSpPr/>
          <p:nvPr/>
        </p:nvSpPr>
        <p:spPr>
          <a:xfrm>
            <a:off x="9886950" y="4495800"/>
            <a:ext cx="1504950" cy="323850"/>
          </a:xfrm>
          <a:prstGeom prst="rect">
            <a:avLst/>
          </a:prstGeom>
          <a:noFill/>
          <a:ln w="9525">
            <a:solidFill>
              <a:srgbClr val="D94B35"/>
            </a:solidFill>
            <a:prstDash val="solid"/>
          </a:ln>
        </p:spPr>
      </p:sp>
      <p:sp>
        <p:nvSpPr>
          <p:cNvPr id="27" name="Text: REVIEW" descr=""/>
          <p:cNvSpPr txBox="1"/>
          <p:nvPr/>
        </p:nvSpPr>
        <p:spPr>
          <a:xfrm>
            <a:off x="9963150" y="4552950"/>
            <a:ext cx="13525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900" b="0" i="0">
                <a:solidFill>
                  <a:srgbClr val="D94B35">
                    <a:alpha val="100000"/>
                  </a:srgbClr>
                </a:solidFill>
                <a:latin typeface="Consolas"/>
              </a:rPr>
              <a:t xml:space="preserve">REVIEW</a:t>
            </a:r>
            <a:endParaRPr lang="en-US" sz="900"/>
          </a:p>
        </p:txBody>
      </p:sp>
      <p:sp>
        <p:nvSpPr>
          <p:cNvPr id="28" name="Rule" descr=""/>
          <p:cNvSpPr/>
          <p:nvPr/>
        </p:nvSpPr>
        <p:spPr>
          <a:xfrm>
            <a:off x="800100" y="5524500"/>
            <a:ext cx="10591800" cy="9525"/>
          </a:xfrm>
          <a:prstGeom prst="rect">
            <a:avLst/>
          </a:prstGeom>
          <a:solidFill>
            <a:srgbClr val="17234E">
              <a:alpha val="42000"/>
            </a:srgbClr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kpi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03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17234E">
                    <a:alpha val="100000"/>
                  </a:srgbClr>
                </a:solidFill>
                <a:latin typeface="Consolas"/>
              </a:rPr>
              <a:t xml:space="preserve">03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17234E">
              <a:alpha val="55000"/>
            </a:srgbClr>
          </a:solidFill>
          <a:ln>
            <a:noFill/>
          </a:ln>
        </p:spPr>
      </p:sp>
      <p:sp>
        <p:nvSpPr>
          <p:cNvPr id="4" name="Rule" descr=""/>
          <p:cNvSpPr/>
          <p:nvPr/>
        </p:nvSpPr>
        <p:spPr>
          <a:xfrm>
            <a:off x="800100" y="276225"/>
            <a:ext cx="32385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5" name="Text: KPI / COMPONENT LIBRARY" descr=""/>
          <p:cNvSpPr txBox="1"/>
          <p:nvPr/>
        </p:nvSpPr>
        <p:spPr>
          <a:xfrm>
            <a:off x="1219200" y="209550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KPI / COMPONENT LIBRARY</a:t>
            </a:r>
            <a:endParaRPr lang="en-US" sz="825"/>
          </a:p>
        </p:txBody>
      </p:sp>
      <p:sp>
        <p:nvSpPr>
          <p:cNvPr id="6" name="Text: Aptaworks" descr=""/>
          <p:cNvSpPr txBox="1"/>
          <p:nvPr/>
        </p:nvSpPr>
        <p:spPr>
          <a:xfrm>
            <a:off x="8143875" y="209550"/>
            <a:ext cx="32480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Aptaworks</a:t>
            </a:r>
            <a:endParaRPr lang="en-US" sz="900"/>
          </a:p>
        </p:txBody>
      </p:sp>
      <p:sp>
        <p:nvSpPr>
          <p:cNvPr id="7" name="Rule" descr=""/>
          <p:cNvSpPr/>
          <p:nvPr/>
        </p:nvSpPr>
        <p:spPr>
          <a:xfrm>
            <a:off x="800100" y="58102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8" name="Text: ILLUSTRATIVE METRICS" descr=""/>
          <p:cNvSpPr txBox="1"/>
          <p:nvPr/>
        </p:nvSpPr>
        <p:spPr>
          <a:xfrm>
            <a:off x="1295400" y="5143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ILLUSTRATIVE METRICS</a:t>
            </a:r>
            <a:endParaRPr lang="en-US" sz="825"/>
          </a:p>
        </p:txBody>
      </p:sp>
      <p:sp>
        <p:nvSpPr>
          <p:cNvPr id="9" name="Text: KPI metrics at a glance" descr=""/>
          <p:cNvSpPr txBox="1"/>
          <p:nvPr/>
        </p:nvSpPr>
        <p:spPr>
          <a:xfrm>
            <a:off x="800100" y="781050"/>
            <a:ext cx="1059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36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KPI metrics at a glance</a:t>
            </a:r>
            <a:endParaRPr lang="en-US" sz="3600"/>
          </a:p>
        </p:txBody>
      </p:sp>
      <p:sp>
        <p:nvSpPr>
          <p:cNvPr id="10" name="Metric cell" descr=""/>
          <p:cNvSpPr/>
          <p:nvPr/>
        </p:nvSpPr>
        <p:spPr>
          <a:xfrm>
            <a:off x="800100" y="1752600"/>
            <a:ext cx="2647950" cy="3143250"/>
          </a:xfrm>
          <a:prstGeom prst="rect">
            <a:avLst/>
          </a:prstGeom>
          <a:solidFill>
            <a:srgbClr val="BEC1CD">
              <a:alpha val="100000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11" name="Text: 24%" descr=""/>
          <p:cNvSpPr txBox="1"/>
          <p:nvPr/>
        </p:nvSpPr>
        <p:spPr>
          <a:xfrm>
            <a:off x="1009650" y="1962150"/>
            <a:ext cx="22288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875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24%</a:t>
            </a:r>
            <a:endParaRPr lang="en-US" sz="4875"/>
          </a:p>
        </p:txBody>
      </p:sp>
      <p:sp>
        <p:nvSpPr>
          <p:cNvPr id="12" name="Text: Cycle-time reduction" descr=""/>
          <p:cNvSpPr txBox="1"/>
          <p:nvPr/>
        </p:nvSpPr>
        <p:spPr>
          <a:xfrm>
            <a:off x="1009650" y="2952750"/>
            <a:ext cx="222885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575" b="1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Cycle-time reduction</a:t>
            </a:r>
            <a:endParaRPr lang="en-US" sz="1575"/>
          </a:p>
        </p:txBody>
      </p:sp>
      <p:sp>
        <p:nvSpPr>
          <p:cNvPr id="13" name="Text: Illustrative pilot target" descr=""/>
          <p:cNvSpPr txBox="1"/>
          <p:nvPr/>
        </p:nvSpPr>
        <p:spPr>
          <a:xfrm>
            <a:off x="1009650" y="3409950"/>
            <a:ext cx="22288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27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Illustrative pilot target</a:t>
            </a:r>
            <a:endParaRPr lang="en-US" sz="1275"/>
          </a:p>
        </p:txBody>
      </p:sp>
      <p:sp>
        <p:nvSpPr>
          <p:cNvPr id="14" name="Metric cell" descr=""/>
          <p:cNvSpPr/>
          <p:nvPr/>
        </p:nvSpPr>
        <p:spPr>
          <a:xfrm>
            <a:off x="3448050" y="1752600"/>
            <a:ext cx="2647950" cy="3143250"/>
          </a:xfrm>
          <a:prstGeom prst="rect">
            <a:avLst/>
          </a:prstGeom>
          <a:solidFill>
            <a:srgbClr val="BEC1CD">
              <a:alpha val="100000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15" name="Text: 12" descr=""/>
          <p:cNvSpPr txBox="1"/>
          <p:nvPr/>
        </p:nvSpPr>
        <p:spPr>
          <a:xfrm>
            <a:off x="3657600" y="1962150"/>
            <a:ext cx="22288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875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12</a:t>
            </a:r>
            <a:endParaRPr lang="en-US" sz="4875"/>
          </a:p>
        </p:txBody>
      </p:sp>
      <p:sp>
        <p:nvSpPr>
          <p:cNvPr id="16" name="Text: Reports in scope" descr=""/>
          <p:cNvSpPr txBox="1"/>
          <p:nvPr/>
        </p:nvSpPr>
        <p:spPr>
          <a:xfrm>
            <a:off x="3657600" y="2952750"/>
            <a:ext cx="222885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575" b="1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Reports in scope</a:t>
            </a:r>
            <a:endParaRPr lang="en-US" sz="1575"/>
          </a:p>
        </p:txBody>
      </p:sp>
      <p:sp>
        <p:nvSpPr>
          <p:cNvPr id="17" name="Text: Sample reporting portfolio" descr=""/>
          <p:cNvSpPr txBox="1"/>
          <p:nvPr/>
        </p:nvSpPr>
        <p:spPr>
          <a:xfrm>
            <a:off x="3657600" y="3409950"/>
            <a:ext cx="22288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27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Sample reporting portfolio</a:t>
            </a:r>
            <a:endParaRPr lang="en-US" sz="1275"/>
          </a:p>
        </p:txBody>
      </p:sp>
      <p:sp>
        <p:nvSpPr>
          <p:cNvPr id="18" name="Metric cell" descr=""/>
          <p:cNvSpPr/>
          <p:nvPr/>
        </p:nvSpPr>
        <p:spPr>
          <a:xfrm>
            <a:off x="6096000" y="1752600"/>
            <a:ext cx="2647950" cy="3143250"/>
          </a:xfrm>
          <a:prstGeom prst="rect">
            <a:avLst/>
          </a:prstGeom>
          <a:solidFill>
            <a:srgbClr val="BEC1CD">
              <a:alpha val="100000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19" name="Text: 98%" descr=""/>
          <p:cNvSpPr txBox="1"/>
          <p:nvPr/>
        </p:nvSpPr>
        <p:spPr>
          <a:xfrm>
            <a:off x="6305550" y="1962150"/>
            <a:ext cx="22288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875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98%</a:t>
            </a:r>
            <a:endParaRPr lang="en-US" sz="4875"/>
          </a:p>
        </p:txBody>
      </p:sp>
      <p:sp>
        <p:nvSpPr>
          <p:cNvPr id="20" name="Text: Validation pass rate" descr=""/>
          <p:cNvSpPr txBox="1"/>
          <p:nvPr/>
        </p:nvSpPr>
        <p:spPr>
          <a:xfrm>
            <a:off x="6305550" y="2952750"/>
            <a:ext cx="222885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575" b="1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Validation pass rate</a:t>
            </a:r>
            <a:endParaRPr lang="en-US" sz="1575"/>
          </a:p>
        </p:txBody>
      </p:sp>
      <p:sp>
        <p:nvSpPr>
          <p:cNvPr id="21" name="Text: Synthetic quality example" descr=""/>
          <p:cNvSpPr txBox="1"/>
          <p:nvPr/>
        </p:nvSpPr>
        <p:spPr>
          <a:xfrm>
            <a:off x="6305550" y="3409950"/>
            <a:ext cx="22288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27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Synthetic quality example</a:t>
            </a:r>
            <a:endParaRPr lang="en-US" sz="1275"/>
          </a:p>
        </p:txBody>
      </p:sp>
      <p:sp>
        <p:nvSpPr>
          <p:cNvPr id="22" name="Metric cell" descr=""/>
          <p:cNvSpPr/>
          <p:nvPr/>
        </p:nvSpPr>
        <p:spPr>
          <a:xfrm>
            <a:off x="8743950" y="1752600"/>
            <a:ext cx="2647950" cy="3143250"/>
          </a:xfrm>
          <a:prstGeom prst="rect">
            <a:avLst/>
          </a:prstGeom>
          <a:solidFill>
            <a:srgbClr val="BEC1CD">
              <a:alpha val="100000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23" name="Text: 6 wk" descr=""/>
          <p:cNvSpPr txBox="1"/>
          <p:nvPr/>
        </p:nvSpPr>
        <p:spPr>
          <a:xfrm>
            <a:off x="8953500" y="1962150"/>
            <a:ext cx="22288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875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6 wk</a:t>
            </a:r>
            <a:endParaRPr lang="en-US" sz="4875"/>
          </a:p>
        </p:txBody>
      </p:sp>
      <p:sp>
        <p:nvSpPr>
          <p:cNvPr id="24" name="Text: Pilot duration" descr=""/>
          <p:cNvSpPr txBox="1"/>
          <p:nvPr/>
        </p:nvSpPr>
        <p:spPr>
          <a:xfrm>
            <a:off x="8953500" y="2952750"/>
            <a:ext cx="222885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575" b="1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Pilot duration</a:t>
            </a:r>
            <a:endParaRPr lang="en-US" sz="1575"/>
          </a:p>
        </p:txBody>
      </p:sp>
      <p:sp>
        <p:nvSpPr>
          <p:cNvPr id="25" name="Text: Indicative delivery window" descr=""/>
          <p:cNvSpPr txBox="1"/>
          <p:nvPr/>
        </p:nvSpPr>
        <p:spPr>
          <a:xfrm>
            <a:off x="8953500" y="3409950"/>
            <a:ext cx="22288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27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Indicative delivery window</a:t>
            </a:r>
            <a:endParaRPr lang="en-US" sz="1275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ards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04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17234E">
                    <a:alpha val="100000"/>
                  </a:srgbClr>
                </a:solidFill>
                <a:latin typeface="Consolas"/>
              </a:rPr>
              <a:t xml:space="preserve">04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17234E">
              <a:alpha val="55000"/>
            </a:srgbClr>
          </a:solidFill>
          <a:ln>
            <a:noFill/>
          </a:ln>
        </p:spPr>
      </p:sp>
      <p:sp>
        <p:nvSpPr>
          <p:cNvPr id="4" name="Rule" descr=""/>
          <p:cNvSpPr/>
          <p:nvPr/>
        </p:nvSpPr>
        <p:spPr>
          <a:xfrm>
            <a:off x="800100" y="276225"/>
            <a:ext cx="32385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5" name="Text: CARDS / COMPONENT LIBRARY" descr=""/>
          <p:cNvSpPr txBox="1"/>
          <p:nvPr/>
        </p:nvSpPr>
        <p:spPr>
          <a:xfrm>
            <a:off x="1219200" y="209550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CARDS / COMPONENT LIBRARY</a:t>
            </a:r>
            <a:endParaRPr lang="en-US" sz="825"/>
          </a:p>
        </p:txBody>
      </p:sp>
      <p:sp>
        <p:nvSpPr>
          <p:cNvPr id="6" name="Text: Aptaworks" descr=""/>
          <p:cNvSpPr txBox="1"/>
          <p:nvPr/>
        </p:nvSpPr>
        <p:spPr>
          <a:xfrm>
            <a:off x="8143875" y="209550"/>
            <a:ext cx="32480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Aptaworks</a:t>
            </a:r>
            <a:endParaRPr lang="en-US" sz="900"/>
          </a:p>
        </p:txBody>
      </p:sp>
      <p:sp>
        <p:nvSpPr>
          <p:cNvPr id="7" name="Rule" descr=""/>
          <p:cNvSpPr/>
          <p:nvPr/>
        </p:nvSpPr>
        <p:spPr>
          <a:xfrm>
            <a:off x="800100" y="58102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8" name="Text: RULE-FRAMED CARDS / WORKSTREAMS" descr=""/>
          <p:cNvSpPr txBox="1"/>
          <p:nvPr/>
        </p:nvSpPr>
        <p:spPr>
          <a:xfrm>
            <a:off x="1295400" y="5143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RULE-FRAMED CARDS / WORKSTREAMS</a:t>
            </a:r>
            <a:endParaRPr lang="en-US" sz="825"/>
          </a:p>
        </p:txBody>
      </p:sp>
      <p:sp>
        <p:nvSpPr>
          <p:cNvPr id="9" name="Text: Scope by workstream" descr=""/>
          <p:cNvSpPr txBox="1"/>
          <p:nvPr/>
        </p:nvSpPr>
        <p:spPr>
          <a:xfrm>
            <a:off x="800100" y="781050"/>
            <a:ext cx="1059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36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Scope by workstream</a:t>
            </a:r>
            <a:endParaRPr lang="en-US" sz="3600"/>
          </a:p>
        </p:txBody>
      </p:sp>
      <p:sp>
        <p:nvSpPr>
          <p:cNvPr id="10" name="Editable workstream card" descr=""/>
          <p:cNvSpPr/>
          <p:nvPr/>
        </p:nvSpPr>
        <p:spPr>
          <a:xfrm>
            <a:off x="800100" y="1752600"/>
            <a:ext cx="3378203" cy="4000500"/>
          </a:xfrm>
          <a:prstGeom prst="rect">
            <a:avLst/>
          </a:prstGeom>
          <a:solidFill>
            <a:srgbClr val="FFFFFF">
              <a:alpha val="57999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11" name="Text: 01" descr=""/>
          <p:cNvSpPr txBox="1"/>
          <p:nvPr/>
        </p:nvSpPr>
        <p:spPr>
          <a:xfrm>
            <a:off x="1038225" y="1981200"/>
            <a:ext cx="2901953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150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01</a:t>
            </a:r>
            <a:endParaRPr lang="en-US" sz="3150"/>
          </a:p>
        </p:txBody>
      </p:sp>
      <p:sp>
        <p:nvSpPr>
          <p:cNvPr id="12" name="Text: Data foundation" descr=""/>
          <p:cNvSpPr txBox="1"/>
          <p:nvPr/>
        </p:nvSpPr>
        <p:spPr>
          <a:xfrm>
            <a:off x="1038225" y="2686050"/>
            <a:ext cx="290195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1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Data foundation</a:t>
            </a:r>
            <a:endParaRPr lang="en-US" sz="2100"/>
          </a:p>
        </p:txBody>
      </p:sp>
      <p:sp>
        <p:nvSpPr>
          <p:cNvPr id="13" name="Text: Confirm source ownership and agree the quality che" descr=""/>
          <p:cNvSpPr txBox="1"/>
          <p:nvPr/>
        </p:nvSpPr>
        <p:spPr>
          <a:xfrm>
            <a:off x="1038225" y="3495675"/>
            <a:ext cx="2901953" cy="176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42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Confirm source ownership and agree the quality checks.</a:t>
            </a:r>
            <a:endParaRPr lang="en-US" sz="1425"/>
          </a:p>
        </p:txBody>
      </p:sp>
      <p:sp>
        <p:nvSpPr>
          <p:cNvPr id="14" name="Text: WORKSTREAM 01" descr=""/>
          <p:cNvSpPr txBox="1"/>
          <p:nvPr/>
        </p:nvSpPr>
        <p:spPr>
          <a:xfrm>
            <a:off x="1038225" y="5410200"/>
            <a:ext cx="2901953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900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WORKSTREAM 01</a:t>
            </a:r>
            <a:endParaRPr lang="en-US" sz="900"/>
          </a:p>
        </p:txBody>
      </p:sp>
      <p:sp>
        <p:nvSpPr>
          <p:cNvPr id="15" name="Editable workstream card" descr=""/>
          <p:cNvSpPr/>
          <p:nvPr/>
        </p:nvSpPr>
        <p:spPr>
          <a:xfrm>
            <a:off x="4406903" y="1752600"/>
            <a:ext cx="3378203" cy="4000500"/>
          </a:xfrm>
          <a:prstGeom prst="rect">
            <a:avLst/>
          </a:prstGeom>
          <a:solidFill>
            <a:srgbClr val="FFFFFF">
              <a:alpha val="57999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16" name="Text: 02" descr=""/>
          <p:cNvSpPr txBox="1"/>
          <p:nvPr/>
        </p:nvSpPr>
        <p:spPr>
          <a:xfrm>
            <a:off x="4645028" y="1981200"/>
            <a:ext cx="2901953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150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02</a:t>
            </a:r>
            <a:endParaRPr lang="en-US" sz="3150"/>
          </a:p>
        </p:txBody>
      </p:sp>
      <p:sp>
        <p:nvSpPr>
          <p:cNvPr id="17" name="Text: Reporting" descr=""/>
          <p:cNvSpPr txBox="1"/>
          <p:nvPr/>
        </p:nvSpPr>
        <p:spPr>
          <a:xfrm>
            <a:off x="4645028" y="2686050"/>
            <a:ext cx="290195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1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Reporting</a:t>
            </a:r>
            <a:endParaRPr lang="en-US" sz="2100"/>
          </a:p>
        </p:txBody>
      </p:sp>
      <p:sp>
        <p:nvSpPr>
          <p:cNvPr id="18" name="Text: Build a focused report around the agreed definitio" descr=""/>
          <p:cNvSpPr txBox="1"/>
          <p:nvPr/>
        </p:nvSpPr>
        <p:spPr>
          <a:xfrm>
            <a:off x="4645028" y="3495675"/>
            <a:ext cx="2901953" cy="176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42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Build a focused report around the agreed definitions.</a:t>
            </a:r>
            <a:endParaRPr lang="en-US" sz="1425"/>
          </a:p>
        </p:txBody>
      </p:sp>
      <p:sp>
        <p:nvSpPr>
          <p:cNvPr id="19" name="Text: WORKSTREAM 02" descr=""/>
          <p:cNvSpPr txBox="1"/>
          <p:nvPr/>
        </p:nvSpPr>
        <p:spPr>
          <a:xfrm>
            <a:off x="4645028" y="5410200"/>
            <a:ext cx="2901953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900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WORKSTREAM 02</a:t>
            </a:r>
            <a:endParaRPr lang="en-US" sz="900"/>
          </a:p>
        </p:txBody>
      </p:sp>
      <p:sp>
        <p:nvSpPr>
          <p:cNvPr id="20" name="Editable workstream card" descr=""/>
          <p:cNvSpPr/>
          <p:nvPr/>
        </p:nvSpPr>
        <p:spPr>
          <a:xfrm>
            <a:off x="8013696" y="1752600"/>
            <a:ext cx="3378203" cy="4000500"/>
          </a:xfrm>
          <a:prstGeom prst="rect">
            <a:avLst/>
          </a:prstGeom>
          <a:solidFill>
            <a:srgbClr val="FFFFFF">
              <a:alpha val="57999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21" name="Text: 03" descr=""/>
          <p:cNvSpPr txBox="1"/>
          <p:nvPr/>
        </p:nvSpPr>
        <p:spPr>
          <a:xfrm>
            <a:off x="8251821" y="1981200"/>
            <a:ext cx="2901953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150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03</a:t>
            </a:r>
            <a:endParaRPr lang="en-US" sz="3150"/>
          </a:p>
        </p:txBody>
      </p:sp>
      <p:sp>
        <p:nvSpPr>
          <p:cNvPr id="22" name="Text: Adoption" descr=""/>
          <p:cNvSpPr txBox="1"/>
          <p:nvPr/>
        </p:nvSpPr>
        <p:spPr>
          <a:xfrm>
            <a:off x="8251821" y="2686050"/>
            <a:ext cx="290195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1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Adoption</a:t>
            </a:r>
            <a:endParaRPr lang="en-US" sz="2100"/>
          </a:p>
        </p:txBody>
      </p:sp>
      <p:sp>
        <p:nvSpPr>
          <p:cNvPr id="23" name="Text: Prepare the runbook and walk through the workflow." descr=""/>
          <p:cNvSpPr txBox="1"/>
          <p:nvPr/>
        </p:nvSpPr>
        <p:spPr>
          <a:xfrm>
            <a:off x="8251821" y="3495675"/>
            <a:ext cx="2901953" cy="176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42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Prepare the runbook and walk through the workflow.</a:t>
            </a:r>
            <a:endParaRPr lang="en-US" sz="1425"/>
          </a:p>
        </p:txBody>
      </p:sp>
      <p:sp>
        <p:nvSpPr>
          <p:cNvPr id="24" name="Text: WORKSTREAM 03" descr=""/>
          <p:cNvSpPr txBox="1"/>
          <p:nvPr/>
        </p:nvSpPr>
        <p:spPr>
          <a:xfrm>
            <a:off x="8251821" y="5410200"/>
            <a:ext cx="2901953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900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WORKSTREAM 03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flow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05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17234E">
                    <a:alpha val="100000"/>
                  </a:srgbClr>
                </a:solidFill>
                <a:latin typeface="Consolas"/>
              </a:rPr>
              <a:t xml:space="preserve">05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17234E">
              <a:alpha val="55000"/>
            </a:srgbClr>
          </a:solidFill>
          <a:ln>
            <a:noFill/>
          </a:ln>
        </p:spPr>
      </p:sp>
      <p:sp>
        <p:nvSpPr>
          <p:cNvPr id="4" name="Rule" descr=""/>
          <p:cNvSpPr/>
          <p:nvPr/>
        </p:nvSpPr>
        <p:spPr>
          <a:xfrm>
            <a:off x="800100" y="276225"/>
            <a:ext cx="32385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5" name="Text: FLOW / COMPONENT LIBRARY" descr=""/>
          <p:cNvSpPr txBox="1"/>
          <p:nvPr/>
        </p:nvSpPr>
        <p:spPr>
          <a:xfrm>
            <a:off x="1219200" y="209550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FLOW / COMPONENT LIBRARY</a:t>
            </a:r>
            <a:endParaRPr lang="en-US" sz="825"/>
          </a:p>
        </p:txBody>
      </p:sp>
      <p:sp>
        <p:nvSpPr>
          <p:cNvPr id="6" name="Text: Aptaworks" descr=""/>
          <p:cNvSpPr txBox="1"/>
          <p:nvPr/>
        </p:nvSpPr>
        <p:spPr>
          <a:xfrm>
            <a:off x="8143875" y="209550"/>
            <a:ext cx="32480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Aptaworks</a:t>
            </a:r>
            <a:endParaRPr lang="en-US" sz="900"/>
          </a:p>
        </p:txBody>
      </p:sp>
      <p:sp>
        <p:nvSpPr>
          <p:cNvPr id="7" name="Rule" descr=""/>
          <p:cNvSpPr/>
          <p:nvPr/>
        </p:nvSpPr>
        <p:spPr>
          <a:xfrm>
            <a:off x="800100" y="58102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8" name="Text: DELIVERY LOGIC / CONNECTED FLOW" descr=""/>
          <p:cNvSpPr txBox="1"/>
          <p:nvPr/>
        </p:nvSpPr>
        <p:spPr>
          <a:xfrm>
            <a:off x="1295400" y="5143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DELIVERY LOGIC / CONNECTED FLOW</a:t>
            </a:r>
            <a:endParaRPr lang="en-US" sz="825"/>
          </a:p>
        </p:txBody>
      </p:sp>
      <p:sp>
        <p:nvSpPr>
          <p:cNvPr id="9" name="Text: A clear delivery flow" descr=""/>
          <p:cNvSpPr txBox="1"/>
          <p:nvPr/>
        </p:nvSpPr>
        <p:spPr>
          <a:xfrm>
            <a:off x="800100" y="781050"/>
            <a:ext cx="1059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36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A clear delivery flow</a:t>
            </a:r>
            <a:endParaRPr lang="en-US" sz="3600"/>
          </a:p>
        </p:txBody>
      </p:sp>
      <p:sp>
        <p:nvSpPr>
          <p:cNvPr id="10" name="Rule" descr=""/>
          <p:cNvSpPr/>
          <p:nvPr/>
        </p:nvSpPr>
        <p:spPr>
          <a:xfrm>
            <a:off x="800100" y="2209800"/>
            <a:ext cx="105918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11" name="Editable flow node" descr=""/>
          <p:cNvSpPr/>
          <p:nvPr/>
        </p:nvSpPr>
        <p:spPr>
          <a:xfrm>
            <a:off x="800100" y="2019300"/>
            <a:ext cx="400050" cy="400050"/>
          </a:xfrm>
          <a:prstGeom prst="ellipse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12" name="Text: 1" descr=""/>
          <p:cNvSpPr txBox="1"/>
          <p:nvPr/>
        </p:nvSpPr>
        <p:spPr>
          <a:xfrm>
            <a:off x="800100" y="2105025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125" b="0" i="0">
                <a:solidFill>
                  <a:srgbClr val="FFFFFF">
                    <a:alpha val="100000"/>
                  </a:srgbClr>
                </a:solidFill>
                <a:latin typeface="Consolas"/>
              </a:rPr>
              <a:t xml:space="preserve">1</a:t>
            </a:r>
            <a:endParaRPr lang="en-US" sz="1125"/>
          </a:p>
        </p:txBody>
      </p:sp>
      <p:sp>
        <p:nvSpPr>
          <p:cNvPr id="13" name="Text: Diagnose" descr=""/>
          <p:cNvSpPr txBox="1"/>
          <p:nvPr/>
        </p:nvSpPr>
        <p:spPr>
          <a:xfrm>
            <a:off x="800100" y="2800350"/>
            <a:ext cx="24193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875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Diagnose</a:t>
            </a:r>
            <a:endParaRPr lang="en-US" sz="1875"/>
          </a:p>
        </p:txBody>
      </p:sp>
      <p:sp>
        <p:nvSpPr>
          <p:cNvPr id="14" name="Text: Map users, constraints, and the decision to suppor" descr=""/>
          <p:cNvSpPr txBox="1"/>
          <p:nvPr/>
        </p:nvSpPr>
        <p:spPr>
          <a:xfrm>
            <a:off x="800100" y="3629025"/>
            <a:ext cx="241935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lang="en-US" sz="150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Map users, constraints, and the decision to support.</a:t>
            </a:r>
            <a:endParaRPr lang="en-US" sz="1500"/>
          </a:p>
        </p:txBody>
      </p:sp>
      <p:sp>
        <p:nvSpPr>
          <p:cNvPr id="15" name="Editable flow node" descr=""/>
          <p:cNvSpPr/>
          <p:nvPr/>
        </p:nvSpPr>
        <p:spPr>
          <a:xfrm>
            <a:off x="3524250" y="2019300"/>
            <a:ext cx="400050" cy="400050"/>
          </a:xfrm>
          <a:prstGeom prst="ellipse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16" name="Text: 2" descr=""/>
          <p:cNvSpPr txBox="1"/>
          <p:nvPr/>
        </p:nvSpPr>
        <p:spPr>
          <a:xfrm>
            <a:off x="3524250" y="2105025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125" b="0" i="0">
                <a:solidFill>
                  <a:srgbClr val="FFFFFF">
                    <a:alpha val="100000"/>
                  </a:srgbClr>
                </a:solidFill>
                <a:latin typeface="Consolas"/>
              </a:rPr>
              <a:t xml:space="preserve">2</a:t>
            </a:r>
            <a:endParaRPr lang="en-US" sz="1125"/>
          </a:p>
        </p:txBody>
      </p:sp>
      <p:sp>
        <p:nvSpPr>
          <p:cNvPr id="17" name="Text: Design" descr=""/>
          <p:cNvSpPr txBox="1"/>
          <p:nvPr/>
        </p:nvSpPr>
        <p:spPr>
          <a:xfrm>
            <a:off x="3524250" y="2800350"/>
            <a:ext cx="24193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875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Design</a:t>
            </a:r>
            <a:endParaRPr lang="en-US" sz="1875"/>
          </a:p>
        </p:txBody>
      </p:sp>
      <p:sp>
        <p:nvSpPr>
          <p:cNvPr id="18" name="Text: Agree the scope, outputs, and acceptance criteria." descr=""/>
          <p:cNvSpPr txBox="1"/>
          <p:nvPr/>
        </p:nvSpPr>
        <p:spPr>
          <a:xfrm>
            <a:off x="3524250" y="3629025"/>
            <a:ext cx="241935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lang="en-US" sz="150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Agree the scope, outputs, and acceptance criteria.</a:t>
            </a:r>
            <a:endParaRPr lang="en-US" sz="1500"/>
          </a:p>
        </p:txBody>
      </p:sp>
      <p:sp>
        <p:nvSpPr>
          <p:cNvPr id="19" name="Editable flow node" descr=""/>
          <p:cNvSpPr/>
          <p:nvPr/>
        </p:nvSpPr>
        <p:spPr>
          <a:xfrm>
            <a:off x="6248400" y="2019300"/>
            <a:ext cx="400050" cy="400050"/>
          </a:xfrm>
          <a:prstGeom prst="ellipse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20" name="Text: 3" descr=""/>
          <p:cNvSpPr txBox="1"/>
          <p:nvPr/>
        </p:nvSpPr>
        <p:spPr>
          <a:xfrm>
            <a:off x="6248400" y="2105025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125" b="0" i="0">
                <a:solidFill>
                  <a:srgbClr val="FFFFFF">
                    <a:alpha val="100000"/>
                  </a:srgbClr>
                </a:solidFill>
                <a:latin typeface="Consolas"/>
              </a:rPr>
              <a:t xml:space="preserve">3</a:t>
            </a:r>
            <a:endParaRPr lang="en-US" sz="1125"/>
          </a:p>
        </p:txBody>
      </p:sp>
      <p:sp>
        <p:nvSpPr>
          <p:cNvPr id="21" name="Text: Deliver" descr=""/>
          <p:cNvSpPr txBox="1"/>
          <p:nvPr/>
        </p:nvSpPr>
        <p:spPr>
          <a:xfrm>
            <a:off x="6248400" y="2800350"/>
            <a:ext cx="24193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875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Deliver</a:t>
            </a:r>
            <a:endParaRPr lang="en-US" sz="1875"/>
          </a:p>
        </p:txBody>
      </p:sp>
      <p:sp>
        <p:nvSpPr>
          <p:cNvPr id="22" name="Text: Build the pilot and validate it with the business " descr=""/>
          <p:cNvSpPr txBox="1"/>
          <p:nvPr/>
        </p:nvSpPr>
        <p:spPr>
          <a:xfrm>
            <a:off x="6248400" y="3629025"/>
            <a:ext cx="241935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lang="en-US" sz="150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Build the pilot and validate it with the business owner.</a:t>
            </a:r>
            <a:endParaRPr lang="en-US" sz="1500"/>
          </a:p>
        </p:txBody>
      </p:sp>
      <p:sp>
        <p:nvSpPr>
          <p:cNvPr id="23" name="Editable flow node" descr=""/>
          <p:cNvSpPr/>
          <p:nvPr/>
        </p:nvSpPr>
        <p:spPr>
          <a:xfrm>
            <a:off x="8972550" y="2019300"/>
            <a:ext cx="400050" cy="400050"/>
          </a:xfrm>
          <a:prstGeom prst="ellipse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24" name="Text: 4" descr=""/>
          <p:cNvSpPr txBox="1"/>
          <p:nvPr/>
        </p:nvSpPr>
        <p:spPr>
          <a:xfrm>
            <a:off x="8972550" y="2105025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125" b="0" i="0">
                <a:solidFill>
                  <a:srgbClr val="FFFFFF">
                    <a:alpha val="100000"/>
                  </a:srgbClr>
                </a:solidFill>
                <a:latin typeface="Consolas"/>
              </a:rPr>
              <a:t xml:space="preserve">4</a:t>
            </a:r>
            <a:endParaRPr lang="en-US" sz="1125"/>
          </a:p>
        </p:txBody>
      </p:sp>
      <p:sp>
        <p:nvSpPr>
          <p:cNvPr id="25" name="Text: Adopt" descr=""/>
          <p:cNvSpPr txBox="1"/>
          <p:nvPr/>
        </p:nvSpPr>
        <p:spPr>
          <a:xfrm>
            <a:off x="8972550" y="2800350"/>
            <a:ext cx="24193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875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Adopt</a:t>
            </a:r>
            <a:endParaRPr lang="en-US" sz="1875"/>
          </a:p>
        </p:txBody>
      </p:sp>
      <p:sp>
        <p:nvSpPr>
          <p:cNvPr id="26" name="Text: Transfer ownership and review the operating routin" descr=""/>
          <p:cNvSpPr txBox="1"/>
          <p:nvPr/>
        </p:nvSpPr>
        <p:spPr>
          <a:xfrm>
            <a:off x="8972550" y="3629025"/>
            <a:ext cx="241935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lang="en-US" sz="150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Transfer ownership and review the operating routine.</a:t>
            </a:r>
            <a:endParaRPr lang="en-US" sz="15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timeline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06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17234E">
                    <a:alpha val="100000"/>
                  </a:srgbClr>
                </a:solidFill>
                <a:latin typeface="Consolas"/>
              </a:rPr>
              <a:t xml:space="preserve">06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17234E">
              <a:alpha val="55000"/>
            </a:srgbClr>
          </a:solidFill>
          <a:ln>
            <a:noFill/>
          </a:ln>
        </p:spPr>
      </p:sp>
      <p:sp>
        <p:nvSpPr>
          <p:cNvPr id="4" name="Rule" descr=""/>
          <p:cNvSpPr/>
          <p:nvPr/>
        </p:nvSpPr>
        <p:spPr>
          <a:xfrm>
            <a:off x="800100" y="276225"/>
            <a:ext cx="32385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5" name="Text: TIMELINE / COMPONENT LIBRARY" descr=""/>
          <p:cNvSpPr txBox="1"/>
          <p:nvPr/>
        </p:nvSpPr>
        <p:spPr>
          <a:xfrm>
            <a:off x="1219200" y="209550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TIMELINE / COMPONENT LIBRARY</a:t>
            </a:r>
            <a:endParaRPr lang="en-US" sz="825"/>
          </a:p>
        </p:txBody>
      </p:sp>
      <p:sp>
        <p:nvSpPr>
          <p:cNvPr id="6" name="Text: Aptaworks" descr=""/>
          <p:cNvSpPr txBox="1"/>
          <p:nvPr/>
        </p:nvSpPr>
        <p:spPr>
          <a:xfrm>
            <a:off x="8143875" y="209550"/>
            <a:ext cx="32480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Aptaworks</a:t>
            </a:r>
            <a:endParaRPr lang="en-US" sz="900"/>
          </a:p>
        </p:txBody>
      </p:sp>
      <p:sp>
        <p:nvSpPr>
          <p:cNvPr id="7" name="Rule" descr=""/>
          <p:cNvSpPr/>
          <p:nvPr/>
        </p:nvSpPr>
        <p:spPr>
          <a:xfrm>
            <a:off x="800100" y="58102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8" name="Text: MILESTONES / EDITABLE TIMELINE" descr=""/>
          <p:cNvSpPr txBox="1"/>
          <p:nvPr/>
        </p:nvSpPr>
        <p:spPr>
          <a:xfrm>
            <a:off x="1295400" y="5143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MILESTONES / EDITABLE TIMELINE</a:t>
            </a:r>
            <a:endParaRPr lang="en-US" sz="825"/>
          </a:p>
        </p:txBody>
      </p:sp>
      <p:sp>
        <p:nvSpPr>
          <p:cNvPr id="9" name="Text: Milestones across the quarter" descr=""/>
          <p:cNvSpPr txBox="1"/>
          <p:nvPr/>
        </p:nvSpPr>
        <p:spPr>
          <a:xfrm>
            <a:off x="800100" y="781050"/>
            <a:ext cx="1059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36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Milestones across the quarter</a:t>
            </a:r>
            <a:endParaRPr lang="en-US" sz="3600"/>
          </a:p>
        </p:txBody>
      </p:sp>
      <p:sp>
        <p:nvSpPr>
          <p:cNvPr id="10" name="Rule" descr=""/>
          <p:cNvSpPr/>
          <p:nvPr/>
        </p:nvSpPr>
        <p:spPr>
          <a:xfrm>
            <a:off x="800100" y="2514600"/>
            <a:ext cx="105918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11" name="Text: WEEKS 01-02" descr=""/>
          <p:cNvSpPr txBox="1"/>
          <p:nvPr/>
        </p:nvSpPr>
        <p:spPr>
          <a:xfrm>
            <a:off x="800100" y="194310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11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WEEKS 01-02</a:t>
            </a:r>
            <a:endParaRPr lang="en-US" sz="1125"/>
          </a:p>
        </p:txBody>
      </p:sp>
      <p:sp>
        <p:nvSpPr>
          <p:cNvPr id="12" name="Timeline milestone" descr=""/>
          <p:cNvSpPr/>
          <p:nvPr/>
        </p:nvSpPr>
        <p:spPr>
          <a:xfrm>
            <a:off x="800100" y="2438400"/>
            <a:ext cx="171450" cy="171450"/>
          </a:xfrm>
          <a:prstGeom prst="ellipse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F7636"/>
            </a:solidFill>
            <a:prstDash val="solid"/>
          </a:ln>
        </p:spPr>
      </p:sp>
      <p:sp>
        <p:nvSpPr>
          <p:cNvPr id="13" name="Text: Discovery" descr=""/>
          <p:cNvSpPr txBox="1"/>
          <p:nvPr/>
        </p:nvSpPr>
        <p:spPr>
          <a:xfrm>
            <a:off x="800100" y="2847975"/>
            <a:ext cx="2381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025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Discovery</a:t>
            </a:r>
            <a:endParaRPr lang="en-US" sz="2025"/>
          </a:p>
        </p:txBody>
      </p:sp>
      <p:sp>
        <p:nvSpPr>
          <p:cNvPr id="14" name="Text: Confirm the pilot scope and source inventory." descr=""/>
          <p:cNvSpPr txBox="1"/>
          <p:nvPr/>
        </p:nvSpPr>
        <p:spPr>
          <a:xfrm>
            <a:off x="800100" y="3790950"/>
            <a:ext cx="238125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42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Confirm the pilot scope and source inventory.</a:t>
            </a:r>
            <a:endParaRPr lang="en-US" sz="1425"/>
          </a:p>
        </p:txBody>
      </p:sp>
      <p:sp>
        <p:nvSpPr>
          <p:cNvPr id="15" name="Text: WEEKS 03-04" descr=""/>
          <p:cNvSpPr txBox="1"/>
          <p:nvPr/>
        </p:nvSpPr>
        <p:spPr>
          <a:xfrm>
            <a:off x="3448050" y="194310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11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WEEKS 03-04</a:t>
            </a:r>
            <a:endParaRPr lang="en-US" sz="1125"/>
          </a:p>
        </p:txBody>
      </p:sp>
      <p:sp>
        <p:nvSpPr>
          <p:cNvPr id="16" name="Timeline milestone" descr=""/>
          <p:cNvSpPr/>
          <p:nvPr/>
        </p:nvSpPr>
        <p:spPr>
          <a:xfrm>
            <a:off x="3448050" y="2438400"/>
            <a:ext cx="171450" cy="171450"/>
          </a:xfrm>
          <a:prstGeom prst="ellipse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F7636"/>
            </a:solidFill>
            <a:prstDash val="solid"/>
          </a:ln>
        </p:spPr>
      </p:sp>
      <p:sp>
        <p:nvSpPr>
          <p:cNvPr id="17" name="Text: Build" descr=""/>
          <p:cNvSpPr txBox="1"/>
          <p:nvPr/>
        </p:nvSpPr>
        <p:spPr>
          <a:xfrm>
            <a:off x="3448050" y="2847975"/>
            <a:ext cx="2381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025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Build</a:t>
            </a:r>
            <a:endParaRPr lang="en-US" sz="2025"/>
          </a:p>
        </p:txBody>
      </p:sp>
      <p:sp>
        <p:nvSpPr>
          <p:cNvPr id="18" name="Text: Implement and review the first reporting workflow." descr=""/>
          <p:cNvSpPr txBox="1"/>
          <p:nvPr/>
        </p:nvSpPr>
        <p:spPr>
          <a:xfrm>
            <a:off x="3448050" y="3790950"/>
            <a:ext cx="238125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42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Implement and review the first reporting workflow.</a:t>
            </a:r>
            <a:endParaRPr lang="en-US" sz="1425"/>
          </a:p>
        </p:txBody>
      </p:sp>
      <p:sp>
        <p:nvSpPr>
          <p:cNvPr id="19" name="Text: WEEKS 05-06" descr=""/>
          <p:cNvSpPr txBox="1"/>
          <p:nvPr/>
        </p:nvSpPr>
        <p:spPr>
          <a:xfrm>
            <a:off x="6096000" y="194310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11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WEEKS 05-06</a:t>
            </a:r>
            <a:endParaRPr lang="en-US" sz="1125"/>
          </a:p>
        </p:txBody>
      </p:sp>
      <p:sp>
        <p:nvSpPr>
          <p:cNvPr id="20" name="Timeline milestone" descr=""/>
          <p:cNvSpPr/>
          <p:nvPr/>
        </p:nvSpPr>
        <p:spPr>
          <a:xfrm>
            <a:off x="6096000" y="2438400"/>
            <a:ext cx="171450" cy="171450"/>
          </a:xfrm>
          <a:prstGeom prst="ellipse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F7636"/>
            </a:solidFill>
            <a:prstDash val="solid"/>
          </a:ln>
        </p:spPr>
      </p:sp>
      <p:sp>
        <p:nvSpPr>
          <p:cNvPr id="21" name="Text: Validate" descr=""/>
          <p:cNvSpPr txBox="1"/>
          <p:nvPr/>
        </p:nvSpPr>
        <p:spPr>
          <a:xfrm>
            <a:off x="6096000" y="2847975"/>
            <a:ext cx="2381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025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Validate</a:t>
            </a:r>
            <a:endParaRPr lang="en-US" sz="2025"/>
          </a:p>
        </p:txBody>
      </p:sp>
      <p:sp>
        <p:nvSpPr>
          <p:cNvPr id="22" name="Text: Resolve discrepancies and confirm acceptance." descr=""/>
          <p:cNvSpPr txBox="1"/>
          <p:nvPr/>
        </p:nvSpPr>
        <p:spPr>
          <a:xfrm>
            <a:off x="6096000" y="3790950"/>
            <a:ext cx="238125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42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Resolve discrepancies and confirm acceptance.</a:t>
            </a:r>
            <a:endParaRPr lang="en-US" sz="1425"/>
          </a:p>
        </p:txBody>
      </p:sp>
      <p:sp>
        <p:nvSpPr>
          <p:cNvPr id="23" name="Text: WEEKS 07-08" descr=""/>
          <p:cNvSpPr txBox="1"/>
          <p:nvPr/>
        </p:nvSpPr>
        <p:spPr>
          <a:xfrm>
            <a:off x="8743950" y="194310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11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WEEKS 07-08</a:t>
            </a:r>
            <a:endParaRPr lang="en-US" sz="1125"/>
          </a:p>
        </p:txBody>
      </p:sp>
      <p:sp>
        <p:nvSpPr>
          <p:cNvPr id="24" name="Timeline milestone" descr=""/>
          <p:cNvSpPr/>
          <p:nvPr/>
        </p:nvSpPr>
        <p:spPr>
          <a:xfrm>
            <a:off x="8743950" y="2438400"/>
            <a:ext cx="171450" cy="171450"/>
          </a:xfrm>
          <a:prstGeom prst="ellipse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EF7636"/>
            </a:solidFill>
            <a:prstDash val="solid"/>
          </a:ln>
        </p:spPr>
      </p:sp>
      <p:sp>
        <p:nvSpPr>
          <p:cNvPr id="25" name="Text: Handover" descr=""/>
          <p:cNvSpPr txBox="1"/>
          <p:nvPr/>
        </p:nvSpPr>
        <p:spPr>
          <a:xfrm>
            <a:off x="8743950" y="2847975"/>
            <a:ext cx="23812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025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Handover</a:t>
            </a:r>
            <a:endParaRPr lang="en-US" sz="2025"/>
          </a:p>
        </p:txBody>
      </p:sp>
      <p:sp>
        <p:nvSpPr>
          <p:cNvPr id="26" name="Text: Transfer the runbook and agree the review cycle." descr=""/>
          <p:cNvSpPr txBox="1"/>
          <p:nvPr/>
        </p:nvSpPr>
        <p:spPr>
          <a:xfrm>
            <a:off x="8743950" y="3790950"/>
            <a:ext cx="238125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42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Transfer the runbook and agree the review cycle.</a:t>
            </a:r>
            <a:endParaRPr lang="en-US" sz="1425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ection">
    <p:bg>
      <p:bgPr>
        <a:gradFill rotWithShape="1">
          <a:gsLst>
            <a:gs pos="0">
              <a:srgbClr val="124C6E"/>
            </a:gs>
            <a:gs pos="46000">
              <a:srgbClr val="17234E"/>
            </a:gs>
            <a:gs pos="100000">
              <a:srgbClr val="0B153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07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FFFFFF">
                    <a:alpha val="100000"/>
                  </a:srgbClr>
                </a:solidFill>
                <a:latin typeface="Consolas"/>
              </a:rPr>
              <a:t xml:space="preserve">07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FFFFFF">
              <a:alpha val="46000"/>
            </a:srgbClr>
          </a:solidFill>
          <a:ln>
            <a:noFill/>
          </a:ln>
        </p:spPr>
      </p:sp>
      <p:pic>
        <p:nvPicPr>
          <p:cNvPr id="4" name="logo_aptaworks_wide_white.png" descr="Aptaworks brand asset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800100" y="518657"/>
            <a:ext cx="1428748" cy="286659"/>
          </a:xfrm>
          <a:prstGeom prst="rect">
            <a:avLst/>
          </a:prstGeom>
        </p:spPr>
      </p:pic>
      <p:sp>
        <p:nvSpPr>
          <p:cNvPr id="5" name="Rule" descr=""/>
          <p:cNvSpPr/>
          <p:nvPr/>
        </p:nvSpPr>
        <p:spPr>
          <a:xfrm>
            <a:off x="800100" y="195262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6" name="Text: SECTION DIVIDER" descr=""/>
          <p:cNvSpPr txBox="1"/>
          <p:nvPr/>
        </p:nvSpPr>
        <p:spPr>
          <a:xfrm>
            <a:off x="1295400" y="18859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SECTION DIVIDER</a:t>
            </a:r>
            <a:endParaRPr lang="en-US" sz="825"/>
          </a:p>
        </p:txBody>
      </p:sp>
      <p:sp>
        <p:nvSpPr>
          <p:cNvPr id="7" name="Text: Evidence, made readable" descr=""/>
          <p:cNvSpPr txBox="1"/>
          <p:nvPr/>
        </p:nvSpPr>
        <p:spPr>
          <a:xfrm>
            <a:off x="800100" y="2333625"/>
            <a:ext cx="7762875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3600" b="0" i="0">
                <a:solidFill>
                  <a:srgbClr val="FFFFFF">
                    <a:alpha val="100000"/>
                  </a:srgbClr>
                </a:solidFill>
                <a:latin typeface="Lato Black"/>
              </a:rPr>
              <a:t xml:space="preserve">Evidence, made readable</a:t>
            </a:r>
            <a:endParaRPr lang="en-US" sz="3600"/>
          </a:p>
        </p:txBody>
      </p:sp>
      <p:sp>
        <p:nvSpPr>
          <p:cNvPr id="8" name="Text: Use the information shape to choose the layout." descr=""/>
          <p:cNvSpPr txBox="1"/>
          <p:nvPr/>
        </p:nvSpPr>
        <p:spPr>
          <a:xfrm>
            <a:off x="800100" y="4000500"/>
            <a:ext cx="7048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725" b="0" i="0">
                <a:solidFill>
                  <a:srgbClr val="FFFFFF">
                    <a:alpha val="78000"/>
                  </a:srgbClr>
                </a:solidFill>
                <a:latin typeface="Lato"/>
              </a:rPr>
              <a:t xml:space="preserve">Use the information shape to choose the layout.</a:t>
            </a:r>
            <a:endParaRPr lang="en-US" sz="1725"/>
          </a:p>
        </p:txBody>
      </p:sp>
      <p:sp>
        <p:nvSpPr>
          <p:cNvPr id="9" name="Text: 07" descr=""/>
          <p:cNvSpPr txBox="1"/>
          <p:nvPr/>
        </p:nvSpPr>
        <p:spPr>
          <a:xfrm>
            <a:off x="8382000" y="3952875"/>
            <a:ext cx="3048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9125" b="0" i="1">
                <a:solidFill>
                  <a:srgbClr val="FFFFFF">
                    <a:alpha val="16000"/>
                  </a:srgbClr>
                </a:solidFill>
                <a:latin typeface="Georgia"/>
              </a:rPr>
              <a:t xml:space="preserve">07</a:t>
            </a:r>
            <a:endParaRPr lang="en-US" sz="19125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table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08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17234E">
                    <a:alpha val="100000"/>
                  </a:srgbClr>
                </a:solidFill>
                <a:latin typeface="Consolas"/>
              </a:rPr>
              <a:t xml:space="preserve">08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17234E">
              <a:alpha val="55000"/>
            </a:srgbClr>
          </a:solidFill>
          <a:ln>
            <a:noFill/>
          </a:ln>
        </p:spPr>
      </p:sp>
      <p:sp>
        <p:nvSpPr>
          <p:cNvPr id="4" name="Rule" descr=""/>
          <p:cNvSpPr/>
          <p:nvPr/>
        </p:nvSpPr>
        <p:spPr>
          <a:xfrm>
            <a:off x="800100" y="276225"/>
            <a:ext cx="32385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5" name="Text: TABLE / COMPONENT LIBRARY" descr=""/>
          <p:cNvSpPr txBox="1"/>
          <p:nvPr/>
        </p:nvSpPr>
        <p:spPr>
          <a:xfrm>
            <a:off x="1219200" y="209550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TABLE / COMPONENT LIBRARY</a:t>
            </a:r>
            <a:endParaRPr lang="en-US" sz="825"/>
          </a:p>
        </p:txBody>
      </p:sp>
      <p:sp>
        <p:nvSpPr>
          <p:cNvPr id="6" name="Text: Aptaworks" descr=""/>
          <p:cNvSpPr txBox="1"/>
          <p:nvPr/>
        </p:nvSpPr>
        <p:spPr>
          <a:xfrm>
            <a:off x="8143875" y="209550"/>
            <a:ext cx="32480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Aptaworks</a:t>
            </a:r>
            <a:endParaRPr lang="en-US" sz="900"/>
          </a:p>
        </p:txBody>
      </p:sp>
      <p:sp>
        <p:nvSpPr>
          <p:cNvPr id="7" name="Rule" descr=""/>
          <p:cNvSpPr/>
          <p:nvPr/>
        </p:nvSpPr>
        <p:spPr>
          <a:xfrm>
            <a:off x="800100" y="58102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8" name="Text: EDITABLE WORKPLAN / NATIVE TABLE" descr=""/>
          <p:cNvSpPr txBox="1"/>
          <p:nvPr/>
        </p:nvSpPr>
        <p:spPr>
          <a:xfrm>
            <a:off x="1295400" y="5143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EDITABLE WORKPLAN / NATIVE TABLE</a:t>
            </a:r>
            <a:endParaRPr lang="en-US" sz="825"/>
          </a:p>
        </p:txBody>
      </p:sp>
      <p:sp>
        <p:nvSpPr>
          <p:cNvPr id="9" name="Text: An editable delivery workplan" descr=""/>
          <p:cNvSpPr txBox="1"/>
          <p:nvPr/>
        </p:nvSpPr>
        <p:spPr>
          <a:xfrm>
            <a:off x="800100" y="781050"/>
            <a:ext cx="1059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36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An editable delivery workplan</a:t>
            </a:r>
            <a:endParaRPr lang="en-US" sz="3600"/>
          </a:p>
        </p:txBody>
      </p:sp>
      <p:graphicFrame>
        <p:nvGraphicFramePr>
          <p:cNvPr id="10" name="Editable table" descr=""/>
          <p:cNvGraphicFramePr/>
          <p:nvPr/>
        </p:nvGraphicFramePr>
        <p:xfrm>
          <a:off x="800100" y="1752600"/>
          <a:ext cx="10591800" cy="3048000"/>
        </p:xfrm>
        <a:graphic>
          <a:graphicData uri="http://schemas.openxmlformats.org/drawingml/2006/table">
            <a:tbl>
              <a:tblPr firstRow="1" bandRow="1"/>
              <a:tblGrid>
                <a:gridCol w="2647950"/>
                <a:gridCol w="2647950"/>
                <a:gridCol w="2647950"/>
                <a:gridCol w="2647950"/>
              </a:tblGrid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Lato"/>
                        </a:rPr>
                        <a:t xml:space="preserve">Phase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1723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Lato"/>
                        </a:rPr>
                        <a:t xml:space="preserve">Owner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1723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Lato"/>
                        </a:rPr>
                        <a:t xml:space="preserve">Deliverable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1723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Lato"/>
                        </a:rPr>
                        <a:t xml:space="preserve">Timing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17234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Discovery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Project lead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Approved scope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Weeks 1-2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Build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Delivery team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Pilot workflow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Weeks 3-4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0EFE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Validate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Business owner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Acceptance record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Weeks 5-6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Handover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Operations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Runbook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0EF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999"/>
                        </a:lnSpc>
                      </a:pPr>
                      <a:r>
                        <a:rPr lang="en-US" sz="1725" b="0" i="0">
                          <a:solidFill>
                            <a:srgbClr val="17234E">
                              <a:alpha val="100000"/>
                            </a:srgbClr>
                          </a:solidFill>
                          <a:latin typeface="Lato"/>
                        </a:rPr>
                        <a:t xml:space="preserve">Weeks 7-8</a:t>
                      </a:r>
                      <a:endParaRPr lang="en-US" sz="1725"/>
                    </a:p>
                  </a:txBody>
                  <a:tcPr marL="114300" marR="114300" marT="76200" marB="76200">
                    <a:lnL w="9525">
                      <a:solidFill>
                        <a:srgbClr val="C9D2DF"/>
                      </a:solidFill>
                    </a:lnL>
                    <a:lnR w="9525">
                      <a:solidFill>
                        <a:srgbClr val="C9D2DF"/>
                      </a:solidFill>
                    </a:lnR>
                    <a:lnT w="9525">
                      <a:solidFill>
                        <a:srgbClr val="C9D2DF"/>
                      </a:solidFill>
                    </a:lnT>
                    <a:lnB w="9525">
                      <a:solidFill>
                        <a:srgbClr val="C9D2DF"/>
                      </a:solidFill>
                    </a:lnB>
                    <a:solidFill>
                      <a:srgbClr val="F0EF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olumns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09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17234E">
                    <a:alpha val="100000"/>
                  </a:srgbClr>
                </a:solidFill>
                <a:latin typeface="Consolas"/>
              </a:rPr>
              <a:t xml:space="preserve">09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17234E">
              <a:alpha val="55000"/>
            </a:srgbClr>
          </a:solidFill>
          <a:ln>
            <a:noFill/>
          </a:ln>
        </p:spPr>
      </p:sp>
      <p:sp>
        <p:nvSpPr>
          <p:cNvPr id="4" name="Rule" descr=""/>
          <p:cNvSpPr/>
          <p:nvPr/>
        </p:nvSpPr>
        <p:spPr>
          <a:xfrm>
            <a:off x="800100" y="276225"/>
            <a:ext cx="32385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5" name="Text: COLUMNS / COMPONENT LIBRARY" descr=""/>
          <p:cNvSpPr txBox="1"/>
          <p:nvPr/>
        </p:nvSpPr>
        <p:spPr>
          <a:xfrm>
            <a:off x="1219200" y="209550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COLUMNS / COMPONENT LIBRARY</a:t>
            </a:r>
            <a:endParaRPr lang="en-US" sz="825"/>
          </a:p>
        </p:txBody>
      </p:sp>
      <p:sp>
        <p:nvSpPr>
          <p:cNvPr id="6" name="Text: Aptaworks" descr=""/>
          <p:cNvSpPr txBox="1"/>
          <p:nvPr/>
        </p:nvSpPr>
        <p:spPr>
          <a:xfrm>
            <a:off x="8143875" y="209550"/>
            <a:ext cx="32480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Aptaworks</a:t>
            </a:r>
            <a:endParaRPr lang="en-US" sz="900"/>
          </a:p>
        </p:txBody>
      </p:sp>
      <p:sp>
        <p:nvSpPr>
          <p:cNvPr id="7" name="Rule" descr=""/>
          <p:cNvSpPr/>
          <p:nvPr/>
        </p:nvSpPr>
        <p:spPr>
          <a:xfrm>
            <a:off x="800100" y="58102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8" name="Text: NARRATIVE / TWO-COLUMN PROPOSAL" descr=""/>
          <p:cNvSpPr txBox="1"/>
          <p:nvPr/>
        </p:nvSpPr>
        <p:spPr>
          <a:xfrm>
            <a:off x="1295400" y="5143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NARRATIVE / TWO-COLUMN PROPOSAL</a:t>
            </a:r>
            <a:endParaRPr lang="en-US" sz="825"/>
          </a:p>
        </p:txBody>
      </p:sp>
      <p:sp>
        <p:nvSpPr>
          <p:cNvPr id="9" name="Text: Frame the proposal in two parts" descr=""/>
          <p:cNvSpPr txBox="1"/>
          <p:nvPr/>
        </p:nvSpPr>
        <p:spPr>
          <a:xfrm>
            <a:off x="800100" y="781050"/>
            <a:ext cx="1059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36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Frame the proposal in two parts</a:t>
            </a:r>
            <a:endParaRPr lang="en-US" sz="3600"/>
          </a:p>
        </p:txBody>
      </p:sp>
      <p:sp>
        <p:nvSpPr>
          <p:cNvPr id="10" name="Narrative panel" descr=""/>
          <p:cNvSpPr/>
          <p:nvPr/>
        </p:nvSpPr>
        <p:spPr>
          <a:xfrm>
            <a:off x="800100" y="1752600"/>
            <a:ext cx="5029200" cy="3810000"/>
          </a:xfrm>
          <a:prstGeom prst="rect">
            <a:avLst/>
          </a:prstGeom>
          <a:solidFill>
            <a:srgbClr val="FFFFFF">
              <a:alpha val="57999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11" name="Text: Business context" descr=""/>
          <p:cNvSpPr txBox="1"/>
          <p:nvPr/>
        </p:nvSpPr>
        <p:spPr>
          <a:xfrm>
            <a:off x="1047750" y="2019300"/>
            <a:ext cx="45339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4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Business context</a:t>
            </a:r>
            <a:endParaRPr lang="en-US" sz="2400"/>
          </a:p>
        </p:txBody>
      </p:sp>
      <p:sp>
        <p:nvSpPr>
          <p:cNvPr id="12" name="Text: Explain the decision, current friction, and outcom" descr=""/>
          <p:cNvSpPr txBox="1"/>
          <p:nvPr/>
        </p:nvSpPr>
        <p:spPr>
          <a:xfrm>
            <a:off x="1047750" y="3105150"/>
            <a:ext cx="4533900" cy="220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72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Explain the decision, current friction, and outcome the team needs.</a:t>
            </a:r>
            <a:endParaRPr lang="en-US" sz="1725"/>
          </a:p>
        </p:txBody>
      </p:sp>
      <p:sp>
        <p:nvSpPr>
          <p:cNvPr id="13" name="Narrative panel" descr=""/>
          <p:cNvSpPr/>
          <p:nvPr/>
        </p:nvSpPr>
        <p:spPr>
          <a:xfrm>
            <a:off x="6362700" y="1752600"/>
            <a:ext cx="5029200" cy="3810000"/>
          </a:xfrm>
          <a:prstGeom prst="rect">
            <a:avLst/>
          </a:prstGeom>
          <a:solidFill>
            <a:srgbClr val="FFFFFF">
              <a:alpha val="57999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14" name="Text: Proposed response" descr=""/>
          <p:cNvSpPr txBox="1"/>
          <p:nvPr/>
        </p:nvSpPr>
        <p:spPr>
          <a:xfrm>
            <a:off x="6610350" y="2019300"/>
            <a:ext cx="45339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4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Proposed response</a:t>
            </a:r>
            <a:endParaRPr lang="en-US" sz="2400"/>
          </a:p>
        </p:txBody>
      </p:sp>
      <p:sp>
        <p:nvSpPr>
          <p:cNvPr id="15" name="Text: Define the scope, deliverables, ownership, and acc" descr=""/>
          <p:cNvSpPr txBox="1"/>
          <p:nvPr/>
        </p:nvSpPr>
        <p:spPr>
          <a:xfrm>
            <a:off x="6610350" y="3105150"/>
            <a:ext cx="4533900" cy="220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725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Define the scope, deliverables, ownership, and acceptance criteria.</a:t>
            </a:r>
            <a:endParaRPr lang="en-US" sz="1725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proof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10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17234E">
                    <a:alpha val="100000"/>
                  </a:srgbClr>
                </a:solidFill>
                <a:latin typeface="Consolas"/>
              </a:rPr>
              <a:t xml:space="preserve">10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17234E">
              <a:alpha val="55000"/>
            </a:srgbClr>
          </a:solidFill>
          <a:ln>
            <a:noFill/>
          </a:ln>
        </p:spPr>
      </p:sp>
      <p:sp>
        <p:nvSpPr>
          <p:cNvPr id="4" name="Rule" descr=""/>
          <p:cNvSpPr/>
          <p:nvPr/>
        </p:nvSpPr>
        <p:spPr>
          <a:xfrm>
            <a:off x="800100" y="276225"/>
            <a:ext cx="32385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5" name="Text: PROOF / COMPONENT LIBRARY" descr=""/>
          <p:cNvSpPr txBox="1"/>
          <p:nvPr/>
        </p:nvSpPr>
        <p:spPr>
          <a:xfrm>
            <a:off x="1219200" y="209550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PROOF / COMPONENT LIBRARY</a:t>
            </a:r>
            <a:endParaRPr lang="en-US" sz="825"/>
          </a:p>
        </p:txBody>
      </p:sp>
      <p:sp>
        <p:nvSpPr>
          <p:cNvPr id="6" name="Text: Aptaworks" descr=""/>
          <p:cNvSpPr txBox="1"/>
          <p:nvPr/>
        </p:nvSpPr>
        <p:spPr>
          <a:xfrm>
            <a:off x="8143875" y="209550"/>
            <a:ext cx="32480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Aptaworks</a:t>
            </a:r>
            <a:endParaRPr lang="en-US" sz="900"/>
          </a:p>
        </p:txBody>
      </p:sp>
      <p:sp>
        <p:nvSpPr>
          <p:cNvPr id="7" name="Rule" descr=""/>
          <p:cNvSpPr/>
          <p:nvPr/>
        </p:nvSpPr>
        <p:spPr>
          <a:xfrm>
            <a:off x="800100" y="58102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8" name="Text: STRUCTURED EVIDENCE / PROOF GRID" descr=""/>
          <p:cNvSpPr txBox="1"/>
          <p:nvPr/>
        </p:nvSpPr>
        <p:spPr>
          <a:xfrm>
            <a:off x="1295400" y="5143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STRUCTURED EVIDENCE / PROOF GRID</a:t>
            </a:r>
            <a:endParaRPr lang="en-US" sz="825"/>
          </a:p>
        </p:txBody>
      </p:sp>
      <p:sp>
        <p:nvSpPr>
          <p:cNvPr id="9" name="Text: A grid for evidence and capabilities" descr=""/>
          <p:cNvSpPr txBox="1"/>
          <p:nvPr/>
        </p:nvSpPr>
        <p:spPr>
          <a:xfrm>
            <a:off x="800100" y="781050"/>
            <a:ext cx="1059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36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A grid for evidence and capabilities</a:t>
            </a:r>
            <a:endParaRPr lang="en-US" sz="3600"/>
          </a:p>
        </p:txBody>
      </p:sp>
      <p:sp>
        <p:nvSpPr>
          <p:cNvPr id="10" name="Proof cell" descr=""/>
          <p:cNvSpPr/>
          <p:nvPr/>
        </p:nvSpPr>
        <p:spPr>
          <a:xfrm>
            <a:off x="800100" y="1752600"/>
            <a:ext cx="3530603" cy="1866900"/>
          </a:xfrm>
          <a:prstGeom prst="rect">
            <a:avLst/>
          </a:prstGeom>
          <a:solidFill>
            <a:srgbClr val="BEC1CD">
              <a:alpha val="100000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11" name="Text: Data" descr=""/>
          <p:cNvSpPr txBox="1"/>
          <p:nvPr/>
        </p:nvSpPr>
        <p:spPr>
          <a:xfrm>
            <a:off x="1009650" y="1962150"/>
            <a:ext cx="311150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925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Data</a:t>
            </a:r>
            <a:endParaRPr lang="en-US" sz="2925"/>
          </a:p>
        </p:txBody>
      </p:sp>
      <p:sp>
        <p:nvSpPr>
          <p:cNvPr id="12" name="Text: Trusted inputs" descr=""/>
          <p:cNvSpPr txBox="1"/>
          <p:nvPr/>
        </p:nvSpPr>
        <p:spPr>
          <a:xfrm>
            <a:off x="1009650" y="2533650"/>
            <a:ext cx="3111503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 b="1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Trusted inputs</a:t>
            </a:r>
            <a:endParaRPr lang="en-US" sz="1350"/>
          </a:p>
        </p:txBody>
      </p:sp>
      <p:sp>
        <p:nvSpPr>
          <p:cNvPr id="13" name="Text: Ownership and quality" descr=""/>
          <p:cNvSpPr txBox="1"/>
          <p:nvPr/>
        </p:nvSpPr>
        <p:spPr>
          <a:xfrm>
            <a:off x="1009650" y="2800350"/>
            <a:ext cx="3111503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05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Ownership and quality</a:t>
            </a:r>
            <a:endParaRPr lang="en-US" sz="1050"/>
          </a:p>
        </p:txBody>
      </p:sp>
      <p:sp>
        <p:nvSpPr>
          <p:cNvPr id="14" name="Proof cell" descr=""/>
          <p:cNvSpPr/>
          <p:nvPr/>
        </p:nvSpPr>
        <p:spPr>
          <a:xfrm>
            <a:off x="4330703" y="1752600"/>
            <a:ext cx="3530603" cy="1866900"/>
          </a:xfrm>
          <a:prstGeom prst="rect">
            <a:avLst/>
          </a:prstGeom>
          <a:solidFill>
            <a:srgbClr val="BEC1CD">
              <a:alpha val="100000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15" name="Text: Insight" descr=""/>
          <p:cNvSpPr txBox="1"/>
          <p:nvPr/>
        </p:nvSpPr>
        <p:spPr>
          <a:xfrm>
            <a:off x="4540253" y="1962150"/>
            <a:ext cx="311150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925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Insight</a:t>
            </a:r>
            <a:endParaRPr lang="en-US" sz="2925"/>
          </a:p>
        </p:txBody>
      </p:sp>
      <p:sp>
        <p:nvSpPr>
          <p:cNvPr id="16" name="Text: Clear definitions" descr=""/>
          <p:cNvSpPr txBox="1"/>
          <p:nvPr/>
        </p:nvSpPr>
        <p:spPr>
          <a:xfrm>
            <a:off x="4540253" y="2533650"/>
            <a:ext cx="3111503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 b="1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Clear definitions</a:t>
            </a:r>
            <a:endParaRPr lang="en-US" sz="1350"/>
          </a:p>
        </p:txBody>
      </p:sp>
      <p:sp>
        <p:nvSpPr>
          <p:cNvPr id="17" name="Text: Metrics and reporting" descr=""/>
          <p:cNvSpPr txBox="1"/>
          <p:nvPr/>
        </p:nvSpPr>
        <p:spPr>
          <a:xfrm>
            <a:off x="4540253" y="2800350"/>
            <a:ext cx="3111503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05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Metrics and reporting</a:t>
            </a:r>
            <a:endParaRPr lang="en-US" sz="1050"/>
          </a:p>
        </p:txBody>
      </p:sp>
      <p:sp>
        <p:nvSpPr>
          <p:cNvPr id="18" name="Proof cell" descr=""/>
          <p:cNvSpPr/>
          <p:nvPr/>
        </p:nvSpPr>
        <p:spPr>
          <a:xfrm>
            <a:off x="7861296" y="1752600"/>
            <a:ext cx="3530603" cy="1866900"/>
          </a:xfrm>
          <a:prstGeom prst="rect">
            <a:avLst/>
          </a:prstGeom>
          <a:solidFill>
            <a:srgbClr val="BEC1CD">
              <a:alpha val="100000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19" name="Text: Delivery" descr=""/>
          <p:cNvSpPr txBox="1"/>
          <p:nvPr/>
        </p:nvSpPr>
        <p:spPr>
          <a:xfrm>
            <a:off x="8070846" y="1962150"/>
            <a:ext cx="311150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925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Delivery</a:t>
            </a:r>
            <a:endParaRPr lang="en-US" sz="2925"/>
          </a:p>
        </p:txBody>
      </p:sp>
      <p:sp>
        <p:nvSpPr>
          <p:cNvPr id="20" name="Text: Visible progress" descr=""/>
          <p:cNvSpPr txBox="1"/>
          <p:nvPr/>
        </p:nvSpPr>
        <p:spPr>
          <a:xfrm>
            <a:off x="8070846" y="2533650"/>
            <a:ext cx="3111503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 b="1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Visible progress</a:t>
            </a:r>
            <a:endParaRPr lang="en-US" sz="1350"/>
          </a:p>
        </p:txBody>
      </p:sp>
      <p:sp>
        <p:nvSpPr>
          <p:cNvPr id="21" name="Text: Scope and checkpoints" descr=""/>
          <p:cNvSpPr txBox="1"/>
          <p:nvPr/>
        </p:nvSpPr>
        <p:spPr>
          <a:xfrm>
            <a:off x="8070846" y="2800350"/>
            <a:ext cx="3111503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05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Scope and checkpoints</a:t>
            </a:r>
            <a:endParaRPr lang="en-US" sz="1050"/>
          </a:p>
        </p:txBody>
      </p:sp>
      <p:sp>
        <p:nvSpPr>
          <p:cNvPr id="22" name="Proof cell" descr=""/>
          <p:cNvSpPr/>
          <p:nvPr/>
        </p:nvSpPr>
        <p:spPr>
          <a:xfrm>
            <a:off x="800100" y="3619500"/>
            <a:ext cx="3530603" cy="1866900"/>
          </a:xfrm>
          <a:prstGeom prst="rect">
            <a:avLst/>
          </a:prstGeom>
          <a:solidFill>
            <a:srgbClr val="BEC1CD">
              <a:alpha val="100000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23" name="Text: People" descr=""/>
          <p:cNvSpPr txBox="1"/>
          <p:nvPr/>
        </p:nvSpPr>
        <p:spPr>
          <a:xfrm>
            <a:off x="1009650" y="3829050"/>
            <a:ext cx="311150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925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People</a:t>
            </a:r>
            <a:endParaRPr lang="en-US" sz="2925"/>
          </a:p>
        </p:txBody>
      </p:sp>
      <p:sp>
        <p:nvSpPr>
          <p:cNvPr id="24" name="Text: Practical adoption" descr=""/>
          <p:cNvSpPr txBox="1"/>
          <p:nvPr/>
        </p:nvSpPr>
        <p:spPr>
          <a:xfrm>
            <a:off x="1009650" y="4400550"/>
            <a:ext cx="3111503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 b="1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Practical adoption</a:t>
            </a:r>
            <a:endParaRPr lang="en-US" sz="1350"/>
          </a:p>
        </p:txBody>
      </p:sp>
      <p:sp>
        <p:nvSpPr>
          <p:cNvPr id="25" name="Text: Training and runbooks" descr=""/>
          <p:cNvSpPr txBox="1"/>
          <p:nvPr/>
        </p:nvSpPr>
        <p:spPr>
          <a:xfrm>
            <a:off x="1009650" y="4667250"/>
            <a:ext cx="3111503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05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Training and runbooks</a:t>
            </a:r>
            <a:endParaRPr lang="en-US" sz="1050"/>
          </a:p>
        </p:txBody>
      </p:sp>
      <p:sp>
        <p:nvSpPr>
          <p:cNvPr id="26" name="Proof cell" descr=""/>
          <p:cNvSpPr/>
          <p:nvPr/>
        </p:nvSpPr>
        <p:spPr>
          <a:xfrm>
            <a:off x="4330703" y="3619500"/>
            <a:ext cx="3530603" cy="1866900"/>
          </a:xfrm>
          <a:prstGeom prst="rect">
            <a:avLst/>
          </a:prstGeom>
          <a:solidFill>
            <a:srgbClr val="BEC1CD">
              <a:alpha val="100000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27" name="Text: Control" descr=""/>
          <p:cNvSpPr txBox="1"/>
          <p:nvPr/>
        </p:nvSpPr>
        <p:spPr>
          <a:xfrm>
            <a:off x="4540253" y="3829050"/>
            <a:ext cx="311150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925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Control</a:t>
            </a:r>
            <a:endParaRPr lang="en-US" sz="2925"/>
          </a:p>
        </p:txBody>
      </p:sp>
      <p:sp>
        <p:nvSpPr>
          <p:cNvPr id="28" name="Text: Reviewable work" descr=""/>
          <p:cNvSpPr txBox="1"/>
          <p:nvPr/>
        </p:nvSpPr>
        <p:spPr>
          <a:xfrm>
            <a:off x="4540253" y="4400550"/>
            <a:ext cx="3111503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 b="1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Reviewable work</a:t>
            </a:r>
            <a:endParaRPr lang="en-US" sz="1350"/>
          </a:p>
        </p:txBody>
      </p:sp>
      <p:sp>
        <p:nvSpPr>
          <p:cNvPr id="29" name="Text: Decisions and traceability" descr=""/>
          <p:cNvSpPr txBox="1"/>
          <p:nvPr/>
        </p:nvSpPr>
        <p:spPr>
          <a:xfrm>
            <a:off x="4540253" y="4667250"/>
            <a:ext cx="3111503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05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Decisions and traceability</a:t>
            </a:r>
            <a:endParaRPr lang="en-US" sz="1050"/>
          </a:p>
        </p:txBody>
      </p:sp>
      <p:sp>
        <p:nvSpPr>
          <p:cNvPr id="30" name="Proof cell" descr=""/>
          <p:cNvSpPr/>
          <p:nvPr/>
        </p:nvSpPr>
        <p:spPr>
          <a:xfrm>
            <a:off x="7861296" y="3619500"/>
            <a:ext cx="3530603" cy="1866900"/>
          </a:xfrm>
          <a:prstGeom prst="rect">
            <a:avLst/>
          </a:prstGeom>
          <a:solidFill>
            <a:srgbClr val="BEC1CD">
              <a:alpha val="100000"/>
            </a:srgbClr>
          </a:solidFill>
          <a:ln w="9525">
            <a:solidFill>
              <a:srgbClr val="17234E"/>
            </a:solidFill>
            <a:prstDash val="solid"/>
          </a:ln>
        </p:spPr>
      </p:sp>
      <p:sp>
        <p:nvSpPr>
          <p:cNvPr id="31" name="Text: Scale" descr=""/>
          <p:cNvSpPr txBox="1"/>
          <p:nvPr/>
        </p:nvSpPr>
        <p:spPr>
          <a:xfrm>
            <a:off x="8070846" y="3829050"/>
            <a:ext cx="311150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925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Scale</a:t>
            </a:r>
            <a:endParaRPr lang="en-US" sz="2925"/>
          </a:p>
        </p:txBody>
      </p:sp>
      <p:sp>
        <p:nvSpPr>
          <p:cNvPr id="32" name="Text: Repeatable patterns" descr=""/>
          <p:cNvSpPr txBox="1"/>
          <p:nvPr/>
        </p:nvSpPr>
        <p:spPr>
          <a:xfrm>
            <a:off x="8070846" y="4400550"/>
            <a:ext cx="3111503" cy="409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 b="1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Repeatable patterns</a:t>
            </a:r>
            <a:endParaRPr lang="en-US" sz="1350"/>
          </a:p>
        </p:txBody>
      </p:sp>
      <p:sp>
        <p:nvSpPr>
          <p:cNvPr id="33" name="Text: Reuse after validation" descr=""/>
          <p:cNvSpPr txBox="1"/>
          <p:nvPr/>
        </p:nvSpPr>
        <p:spPr>
          <a:xfrm>
            <a:off x="8070846" y="4667250"/>
            <a:ext cx="3111503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050" b="0" i="0">
                <a:solidFill>
                  <a:srgbClr val="5E6B82">
                    <a:alpha val="100000"/>
                  </a:srgbClr>
                </a:solidFill>
                <a:latin typeface="Lato"/>
              </a:rPr>
              <a:t xml:space="preserve">Reuse after validation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image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11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17234E">
                    <a:alpha val="100000"/>
                  </a:srgbClr>
                </a:solidFill>
                <a:latin typeface="Consolas"/>
              </a:rPr>
              <a:t xml:space="preserve">11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17234E">
              <a:alpha val="55000"/>
            </a:srgbClr>
          </a:solidFill>
          <a:ln>
            <a:noFill/>
          </a:ln>
        </p:spPr>
      </p:sp>
      <p:sp>
        <p:nvSpPr>
          <p:cNvPr id="4" name="Rule" descr=""/>
          <p:cNvSpPr/>
          <p:nvPr/>
        </p:nvSpPr>
        <p:spPr>
          <a:xfrm>
            <a:off x="800100" y="276225"/>
            <a:ext cx="32385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5" name="Text: IMAGE / COMPONENT LIBRARY" descr=""/>
          <p:cNvSpPr txBox="1"/>
          <p:nvPr/>
        </p:nvSpPr>
        <p:spPr>
          <a:xfrm>
            <a:off x="1219200" y="209550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IMAGE / COMPONENT LIBRARY</a:t>
            </a:r>
            <a:endParaRPr lang="en-US" sz="825"/>
          </a:p>
        </p:txBody>
      </p:sp>
      <p:sp>
        <p:nvSpPr>
          <p:cNvPr id="6" name="Text: Aptaworks" descr=""/>
          <p:cNvSpPr txBox="1"/>
          <p:nvPr/>
        </p:nvSpPr>
        <p:spPr>
          <a:xfrm>
            <a:off x="8143875" y="209550"/>
            <a:ext cx="32480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Aptaworks</a:t>
            </a:r>
            <a:endParaRPr lang="en-US" sz="900"/>
          </a:p>
        </p:txBody>
      </p:sp>
      <p:sp>
        <p:nvSpPr>
          <p:cNvPr id="7" name="Rule" descr=""/>
          <p:cNvSpPr/>
          <p:nvPr/>
        </p:nvSpPr>
        <p:spPr>
          <a:xfrm>
            <a:off x="800100" y="58102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8" name="Text: PRODUCT / VISUAL EVIDENCE" descr=""/>
          <p:cNvSpPr txBox="1"/>
          <p:nvPr/>
        </p:nvSpPr>
        <p:spPr>
          <a:xfrm>
            <a:off x="1295400" y="5143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PRODUCT / VISUAL EVIDENCE</a:t>
            </a:r>
            <a:endParaRPr lang="en-US" sz="825"/>
          </a:p>
        </p:txBody>
      </p:sp>
      <p:sp>
        <p:nvSpPr>
          <p:cNvPr id="9" name="Text: Keep product visuals in context" descr=""/>
          <p:cNvSpPr txBox="1"/>
          <p:nvPr/>
        </p:nvSpPr>
        <p:spPr>
          <a:xfrm>
            <a:off x="800100" y="781050"/>
            <a:ext cx="1059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36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Keep product visuals in context</a:t>
            </a:r>
            <a:endParaRPr lang="en-US" sz="3600"/>
          </a:p>
        </p:txBody>
      </p:sp>
      <p:sp>
        <p:nvSpPr>
          <p:cNvPr id="10" name="Source image frame" descr=""/>
          <p:cNvSpPr/>
          <p:nvPr/>
        </p:nvSpPr>
        <p:spPr>
          <a:xfrm>
            <a:off x="800100" y="1752600"/>
            <a:ext cx="6762750" cy="3905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solidFill>
              <a:srgbClr val="C9D2DF"/>
            </a:solidFill>
            <a:prstDash val="solid"/>
          </a:ln>
        </p:spPr>
      </p:sp>
      <p:pic>
        <p:nvPicPr>
          <p:cNvPr id="11" name="logo_aptaworks_wide_navy.png" descr="Official Aptaworks wordmark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933459" y="3053553"/>
            <a:ext cx="6496031" cy="1303343"/>
          </a:xfrm>
          <a:prstGeom prst="rect">
            <a:avLst/>
          </a:prstGeom>
        </p:spPr>
      </p:pic>
      <p:sp>
        <p:nvSpPr>
          <p:cNvPr id="12" name="Text: Pair a source visual with a concise explanation. P" descr=""/>
          <p:cNvSpPr txBox="1"/>
          <p:nvPr/>
        </p:nvSpPr>
        <p:spPr>
          <a:xfrm>
            <a:off x="8058150" y="1895475"/>
            <a:ext cx="3333750" cy="361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lang="en-US" sz="1875" b="0" i="0">
                <a:solidFill>
                  <a:srgbClr val="17234E">
                    <a:alpha val="100000"/>
                  </a:srgbClr>
                </a:solidFill>
                <a:latin typeface="Lato"/>
              </a:rPr>
              <a:t xml:space="preserve">Pair a source visual with a concise explanation. Preserve the original artwork and its proportions.</a:t>
            </a:r>
            <a:endParaRPr lang="en-US" sz="1875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quote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12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17234E">
                    <a:alpha val="100000"/>
                  </a:srgbClr>
                </a:solidFill>
                <a:latin typeface="Consolas"/>
              </a:rPr>
              <a:t xml:space="preserve">12 / 13</a:t>
            </a:r>
            <a:endParaRPr lang="en-US" sz="900"/>
          </a:p>
        </p:txBody>
      </p:sp>
      <p:sp>
        <p:nvSpPr>
          <p:cNvPr id="3" name="Rule" descr=""/>
          <p:cNvSpPr/>
          <p:nvPr/>
        </p:nvSpPr>
        <p:spPr>
          <a:xfrm>
            <a:off x="800100" y="6553200"/>
            <a:ext cx="10591800" cy="9525"/>
          </a:xfrm>
          <a:prstGeom prst="rect">
            <a:avLst/>
          </a:prstGeom>
          <a:solidFill>
            <a:srgbClr val="17234E">
              <a:alpha val="55000"/>
            </a:srgbClr>
          </a:solidFill>
          <a:ln>
            <a:noFill/>
          </a:ln>
        </p:spPr>
      </p:sp>
      <p:sp>
        <p:nvSpPr>
          <p:cNvPr id="4" name="Rule" descr=""/>
          <p:cNvSpPr/>
          <p:nvPr/>
        </p:nvSpPr>
        <p:spPr>
          <a:xfrm>
            <a:off x="800100" y="276225"/>
            <a:ext cx="32385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5" name="Text: QUOTE / COMPONENT LIBRARY" descr=""/>
          <p:cNvSpPr txBox="1"/>
          <p:nvPr/>
        </p:nvSpPr>
        <p:spPr>
          <a:xfrm>
            <a:off x="1219200" y="209550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QUOTE / COMPONENT LIBRARY</a:t>
            </a:r>
            <a:endParaRPr lang="en-US" sz="825"/>
          </a:p>
        </p:txBody>
      </p:sp>
      <p:sp>
        <p:nvSpPr>
          <p:cNvPr id="6" name="Text: Aptaworks" descr=""/>
          <p:cNvSpPr txBox="1"/>
          <p:nvPr/>
        </p:nvSpPr>
        <p:spPr>
          <a:xfrm>
            <a:off x="8143875" y="209550"/>
            <a:ext cx="32480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Aptaworks</a:t>
            </a:r>
            <a:endParaRPr lang="en-US" sz="900"/>
          </a:p>
        </p:txBody>
      </p:sp>
      <p:sp>
        <p:nvSpPr>
          <p:cNvPr id="7" name="Rule" descr=""/>
          <p:cNvSpPr/>
          <p:nvPr/>
        </p:nvSpPr>
        <p:spPr>
          <a:xfrm>
            <a:off x="800100" y="581025"/>
            <a:ext cx="381000" cy="28575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8" name="Text: QUOTE / PRINCIPLE" descr=""/>
          <p:cNvSpPr txBox="1"/>
          <p:nvPr/>
        </p:nvSpPr>
        <p:spPr>
          <a:xfrm>
            <a:off x="1295400" y="5143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825" b="0" i="0">
                <a:solidFill>
                  <a:srgbClr val="EF7636">
                    <a:alpha val="100000"/>
                  </a:srgbClr>
                </a:solidFill>
                <a:latin typeface="Consolas"/>
              </a:rPr>
              <a:t xml:space="preserve">QUOTE / PRINCIPLE</a:t>
            </a:r>
            <a:endParaRPr lang="en-US" sz="825"/>
          </a:p>
        </p:txBody>
      </p:sp>
      <p:sp>
        <p:nvSpPr>
          <p:cNvPr id="9" name="Text: One principle, clearly stated" descr=""/>
          <p:cNvSpPr txBox="1"/>
          <p:nvPr/>
        </p:nvSpPr>
        <p:spPr>
          <a:xfrm>
            <a:off x="800100" y="781050"/>
            <a:ext cx="10591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lang="en-US" sz="3600" b="0" i="0">
                <a:solidFill>
                  <a:srgbClr val="17234E">
                    <a:alpha val="100000"/>
                  </a:srgbClr>
                </a:solidFill>
                <a:latin typeface="Lato Black"/>
              </a:rPr>
              <a:t xml:space="preserve">One principle, clearly stated</a:t>
            </a:r>
            <a:endParaRPr lang="en-US" sz="3600"/>
          </a:p>
        </p:txBody>
      </p:sp>
      <p:sp>
        <p:nvSpPr>
          <p:cNvPr id="10" name="Rule" descr=""/>
          <p:cNvSpPr/>
          <p:nvPr/>
        </p:nvSpPr>
        <p:spPr>
          <a:xfrm>
            <a:off x="800100" y="1866900"/>
            <a:ext cx="47625" cy="3333750"/>
          </a:xfrm>
          <a:prstGeom prst="rect">
            <a:avLst/>
          </a:prstGeom>
          <a:solidFill>
            <a:srgbClr val="EF7636">
              <a:alpha val="100000"/>
            </a:srgbClr>
          </a:solidFill>
          <a:ln>
            <a:noFill/>
          </a:ln>
        </p:spPr>
      </p:sp>
      <p:sp>
        <p:nvSpPr>
          <p:cNvPr id="11" name="Text: Choose each layout to match the information your a" descr=""/>
          <p:cNvSpPr txBox="1"/>
          <p:nvPr/>
        </p:nvSpPr>
        <p:spPr>
          <a:xfrm>
            <a:off x="1200150" y="1847850"/>
            <a:ext cx="97155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3225" b="0" i="1">
                <a:solidFill>
                  <a:srgbClr val="17234E">
                    <a:alpha val="100000"/>
                  </a:srgbClr>
                </a:solidFill>
                <a:latin typeface="Georgia"/>
              </a:rPr>
              <a:t xml:space="preserve">Choose each layout to match the information your audience needs to compare, follow, or remember.</a:t>
            </a:r>
            <a:endParaRPr lang="en-US" sz="3225"/>
          </a:p>
        </p:txBody>
      </p:sp>
      <p:sp>
        <p:nvSpPr>
          <p:cNvPr id="12" name="Text: Aptaworks design principles - illustrative stateme" descr=""/>
          <p:cNvSpPr txBox="1"/>
          <p:nvPr/>
        </p:nvSpPr>
        <p:spPr>
          <a:xfrm>
            <a:off x="1200150" y="4857750"/>
            <a:ext cx="9715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1125" b="0" i="0">
                <a:solidFill>
                  <a:srgbClr val="5E6B82">
                    <a:alpha val="100000"/>
                  </a:srgbClr>
                </a:solidFill>
                <a:latin typeface="Consolas"/>
              </a:rPr>
              <a:t xml:space="preserve">Aptaworks design principles - illustrative statement</a:t>
            </a:r>
            <a:endParaRPr lang="en-US" sz="1125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losing">
    <p:bg>
      <p:bgPr>
        <a:gradFill rotWithShape="1">
          <a:gsLst>
            <a:gs pos="0">
              <a:srgbClr val="182B63"/>
            </a:gs>
            <a:gs pos="48000">
              <a:srgbClr val="152B5B"/>
            </a:gs>
            <a:gs pos="100000">
              <a:srgbClr val="16A6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13 / 13" descr=""/>
          <p:cNvSpPr txBox="1"/>
          <p:nvPr/>
        </p:nvSpPr>
        <p:spPr>
          <a:xfrm>
            <a:off x="10287000" y="62484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-US" sz="900" b="0" i="0">
                <a:solidFill>
                  <a:srgbClr val="17234E">
                    <a:alpha val="100000"/>
                  </a:srgbClr>
                </a:solidFill>
                <a:latin typeface="Consolas"/>
              </a:rPr>
              <a:t xml:space="preserve">13 / 13</a:t>
            </a:r>
            <a:endParaRPr lang="en-US" sz="900"/>
          </a:p>
        </p:txBody>
      </p:sp>
      <p:sp>
        <p:nvSpPr>
          <p:cNvPr id="3" name="Text: Maximize your operational efficiency and business " descr=""/>
          <p:cNvSpPr txBox="1"/>
          <p:nvPr/>
        </p:nvSpPr>
        <p:spPr>
          <a:xfrm>
            <a:off x="800100" y="1485900"/>
            <a:ext cx="105918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4000"/>
              </a:lnSpc>
            </a:pPr>
            <a:r>
              <a:rPr lang="en-US" sz="3120" b="0" i="0">
                <a:solidFill>
                  <a:srgbClr val="FFFFFF">
                    <a:alpha val="100000"/>
                  </a:srgbClr>
                </a:solidFill>
                <a:latin typeface="Lato Black"/>
              </a:rPr>
              <a:t xml:space="preserve">Maximize your operational efficiency and business growth</a:t>
            </a:r>
            <a:endParaRPr lang="en-US" sz="3120"/>
          </a:p>
        </p:txBody>
      </p:sp>
      <p:sp>
        <p:nvSpPr>
          <p:cNvPr id="4" name="Text: with Aptaworks' cutting-edge data solutions." descr=""/>
          <p:cNvSpPr txBox="1"/>
          <p:nvPr/>
        </p:nvSpPr>
        <p:spPr>
          <a:xfrm>
            <a:off x="800100" y="2000250"/>
            <a:ext cx="105918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4000"/>
              </a:lnSpc>
            </a:pPr>
            <a:r>
              <a:rPr lang="en-US" sz="2370" b="1" i="0">
                <a:solidFill>
                  <a:srgbClr val="FFFFFF">
                    <a:alpha val="78000"/>
                  </a:srgbClr>
                </a:solidFill>
                <a:latin typeface="Lato"/>
              </a:rPr>
              <a:t xml:space="preserve">with Aptaworks' cutting-edge data solutions.</a:t>
            </a:r>
            <a:endParaRPr lang="en-US" sz="2370"/>
          </a:p>
        </p:txBody>
      </p:sp>
      <p:sp>
        <p:nvSpPr>
          <p:cNvPr id="5" name="Text: Get a consultation with our experts at" descr=""/>
          <p:cNvSpPr txBox="1"/>
          <p:nvPr/>
        </p:nvSpPr>
        <p:spPr>
          <a:xfrm>
            <a:off x="800100" y="3124200"/>
            <a:ext cx="105918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685" b="0" i="0">
                <a:solidFill>
                  <a:srgbClr val="FFFFFF">
                    <a:alpha val="100000"/>
                  </a:srgbClr>
                </a:solidFill>
                <a:latin typeface="Lato"/>
              </a:rPr>
              <a:t xml:space="preserve">Get a consultation with our experts at</a:t>
            </a:r>
            <a:endParaRPr lang="en-US" sz="2685"/>
          </a:p>
        </p:txBody>
      </p:sp>
      <p:sp>
        <p:nvSpPr>
          <p:cNvPr id="6" name="Consultation QR card" descr=""/>
          <p:cNvSpPr/>
          <p:nvPr/>
        </p:nvSpPr>
        <p:spPr>
          <a:xfrm>
            <a:off x="5419725" y="4257675"/>
            <a:ext cx="1352550" cy="135255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>
            <a:noFill/>
          </a:ln>
        </p:spPr>
      </p:sp>
      <p:pic>
        <p:nvPicPr>
          <p:cNvPr id="7" name="qr-apta.png" descr="Aptaworks consultation QR code"/>
          <p:cNvPicPr>
            <a:picLocks noChangeAspect="1"/>
          </p:cNvPicPr>
          <p:nvPr/>
        </p:nvPicPr>
        <p:blipFill>
          <a:blip r:embed="rIdImage1"/>
          <a:stretch>
            <a:fillRect/>
          </a:stretch>
        </p:blipFill>
        <p:spPr>
          <a:xfrm>
            <a:off x="5495925" y="4338999"/>
            <a:ext cx="1200149" cy="1189891"/>
          </a:xfrm>
          <a:prstGeom prst="rect">
            <a:avLst/>
          </a:prstGeom>
        </p:spPr>
      </p:pic>
      <p:pic>
        <p:nvPicPr>
          <p:cNvPr id="8" name="Footer.png" descr="(+62) 811 862 2782; Instagram aptaworks; LinkedIn aptaworks; www.apta.id; info@apta.id"/>
          <p:cNvPicPr>
            <a:picLocks noChangeAspect="1"/>
          </p:cNvPicPr>
          <p:nvPr/>
        </p:nvPicPr>
        <p:blipFill>
          <a:blip r:embed="rIdImage2"/>
          <a:stretch>
            <a:fillRect/>
          </a:stretch>
        </p:blipFill>
        <p:spPr>
          <a:xfrm>
            <a:off x="762000" y="5810250"/>
            <a:ext cx="10668000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ptaworks">
  <a:themeElements>
    <a:clrScheme name="Aptaworks">
      <a:dk1>
        <a:srgbClr val="17234E"/>
      </a:dk1>
      <a:lt1>
        <a:srgbClr val="FFFFFF"/>
      </a:lt1>
      <a:dk2>
        <a:srgbClr val="0B1533"/>
      </a:dk2>
      <a:lt2>
        <a:srgbClr val="F6F3EA"/>
      </a:lt2>
      <a:accent1>
        <a:srgbClr val="17234E"/>
      </a:accent1>
      <a:accent2>
        <a:srgbClr val="EF7636"/>
      </a:accent2>
      <a:accent3>
        <a:srgbClr val="0A6F93"/>
      </a:accent3>
      <a:accent4>
        <a:srgbClr val="2448FF"/>
      </a:accent4>
      <a:accent5>
        <a:srgbClr val="5E6B82"/>
      </a:accent5>
      <a:accent6>
        <a:srgbClr val="C9D2DF"/>
      </a:accent6>
      <a:hlink>
        <a:srgbClr val="2448FF"/>
      </a:hlink>
      <a:folHlink>
        <a:srgbClr val="5E6B82"/>
      </a:folHlink>
    </a:clrScheme>
    <a:fontScheme name="Aptaworks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Aptawork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